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7"/>
  </p:notesMasterIdLst>
  <p:sldIdLst>
    <p:sldId id="256" r:id="rId2"/>
    <p:sldId id="263" r:id="rId3"/>
    <p:sldId id="260" r:id="rId4"/>
    <p:sldId id="267" r:id="rId5"/>
    <p:sldId id="311" r:id="rId6"/>
    <p:sldId id="257" r:id="rId7"/>
    <p:sldId id="312" r:id="rId8"/>
    <p:sldId id="313" r:id="rId9"/>
    <p:sldId id="262" r:id="rId10"/>
    <p:sldId id="315" r:id="rId11"/>
    <p:sldId id="316" r:id="rId12"/>
    <p:sldId id="314" r:id="rId13"/>
    <p:sldId id="275" r:id="rId14"/>
    <p:sldId id="317" r:id="rId15"/>
    <p:sldId id="259" r:id="rId16"/>
    <p:sldId id="318" r:id="rId17"/>
    <p:sldId id="319" r:id="rId18"/>
    <p:sldId id="320" r:id="rId19"/>
    <p:sldId id="321" r:id="rId20"/>
    <p:sldId id="279" r:id="rId21"/>
    <p:sldId id="322" r:id="rId22"/>
    <p:sldId id="323" r:id="rId23"/>
    <p:sldId id="324" r:id="rId24"/>
    <p:sldId id="325" r:id="rId25"/>
    <p:sldId id="277" r:id="rId26"/>
  </p:sldIdLst>
  <p:sldSz cx="9144000" cy="5143500" type="screen16x9"/>
  <p:notesSz cx="6858000" cy="9144000"/>
  <p:embeddedFontLst>
    <p:embeddedFont>
      <p:font typeface="Advent Pro" panose="020B0604020202020204" charset="0"/>
      <p:regular r:id="rId28"/>
      <p:bold r:id="rId29"/>
      <p:italic r:id="rId30"/>
      <p:boldItalic r:id="rId31"/>
    </p:embeddedFont>
    <p:embeddedFont>
      <p:font typeface="Alumni Sans Pinstripe" panose="020B0604020202020204" charset="0"/>
      <p:regular r:id="rId32"/>
      <p:italic r:id="rId33"/>
    </p:embeddedFont>
    <p:embeddedFont>
      <p:font typeface="Baskerville Old Face" panose="02020602080505020303" pitchFamily="18" charset="0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IranNastaliq" panose="02020505000000020003" pitchFamily="18" charset="0"/>
      <p:regular r:id="rId40"/>
    </p:embeddedFont>
    <p:embeddedFont>
      <p:font typeface="PT Sans" panose="020B0503020203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560E92-6E82-47FC-8FF9-BEE0E81252DB}">
  <a:tblStyle styleId="{A0560E92-6E82-47FC-8FF9-BEE0E81252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کلی</c:v>
                </c:pt>
                <c:pt idx="1">
                  <c:v>SQL</c:v>
                </c:pt>
                <c:pt idx="2">
                  <c:v>XSS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7-4362-B6E2-7C5CEAE9C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کلی</c:v>
                </c:pt>
                <c:pt idx="1">
                  <c:v>SQL</c:v>
                </c:pt>
                <c:pt idx="2">
                  <c:v>XSS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</c:v>
                </c:pt>
                <c:pt idx="1">
                  <c:v>0.84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87-4362-B6E2-7C5CEAE9C2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gradFill flip="none" rotWithShape="1">
              <a:gsLst>
                <a:gs pos="0">
                  <a:schemeClr val="accent3"/>
                </a:gs>
                <a:gs pos="75000">
                  <a:schemeClr val="accent3">
                    <a:lumMod val="60000"/>
                    <a:lumOff val="40000"/>
                  </a:schemeClr>
                </a:gs>
                <a:gs pos="51000">
                  <a:schemeClr val="accent3">
                    <a:alpha val="75000"/>
                  </a:schemeClr>
                </a:gs>
                <a:gs pos="100000">
                  <a:schemeClr val="accent3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کلی</c:v>
                </c:pt>
                <c:pt idx="1">
                  <c:v>SQL</c:v>
                </c:pt>
                <c:pt idx="2">
                  <c:v>XSS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0.95</c:v>
                </c:pt>
                <c:pt idx="1">
                  <c:v>0.91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87-4362-B6E2-7C5CEAE9C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g11bc263f502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2" name="Google Shape;3302;g11bc263f502_0_1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11bc263f502_0_2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11bc263f502_0_2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97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11bc263f5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83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074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g13ef048210c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5" name="Google Shape;3875;g13ef048210c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921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66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926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9" name="Google Shape;4279;g11bc263f502_0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0" name="Google Shape;4280;g11bc263f502_0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549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g11bc263f502_0_1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0" name="Google Shape;3200;g11bc263f502_0_1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442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g12937d05419_0_6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7" name="Google Shape;4467;g12937d05419_0_6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043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3" name="Google Shape;4363;g11bc263f502_0_2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4" name="Google Shape;4364;g11bc263f502_0_2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277" name="Google Shape;277;p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4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313" name="Google Shape;313;p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" name="Google Shape;380;p4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8719456" y="513232"/>
            <a:ext cx="326167" cy="2227568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7"/>
          <p:cNvSpPr/>
          <p:nvPr/>
        </p:nvSpPr>
        <p:spPr>
          <a:xfrm rot="-8909883">
            <a:off x="7380555" y="-922593"/>
            <a:ext cx="2453841" cy="2453841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7130050" y="-541850"/>
            <a:ext cx="1759500" cy="1759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6696355" y="334491"/>
            <a:ext cx="2227589" cy="1527191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07678" y="-187590"/>
            <a:ext cx="2227589" cy="726958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624140" y="-419150"/>
            <a:ext cx="15270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"/>
          <p:cNvSpPr/>
          <p:nvPr/>
        </p:nvSpPr>
        <p:spPr>
          <a:xfrm rot="372611">
            <a:off x="5475589" y="4165080"/>
            <a:ext cx="2204738" cy="2204738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7"/>
          <p:cNvGrpSpPr/>
          <p:nvPr/>
        </p:nvGrpSpPr>
        <p:grpSpPr>
          <a:xfrm>
            <a:off x="5832004" y="3999491"/>
            <a:ext cx="2227588" cy="726522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"/>
          <p:cNvSpPr txBox="1">
            <a:spLocks noGrp="1"/>
          </p:cNvSpPr>
          <p:nvPr>
            <p:ph type="title"/>
          </p:nvPr>
        </p:nvSpPr>
        <p:spPr>
          <a:xfrm>
            <a:off x="2029075" y="2490350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4" name="Google Shape;784;p9"/>
          <p:cNvSpPr txBox="1">
            <a:spLocks noGrp="1"/>
          </p:cNvSpPr>
          <p:nvPr>
            <p:ph type="subTitle" idx="1"/>
          </p:nvPr>
        </p:nvSpPr>
        <p:spPr>
          <a:xfrm>
            <a:off x="2029075" y="3269253"/>
            <a:ext cx="50859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5" name="Google Shape;785;p9"/>
          <p:cNvSpPr/>
          <p:nvPr/>
        </p:nvSpPr>
        <p:spPr>
          <a:xfrm rot="-4819752">
            <a:off x="8205757" y="1265550"/>
            <a:ext cx="1585836" cy="1585836"/>
          </a:xfrm>
          <a:prstGeom prst="blockArc">
            <a:avLst>
              <a:gd name="adj1" fmla="val 5958233"/>
              <a:gd name="adj2" fmla="val 2559931"/>
              <a:gd name="adj3" fmla="val 2250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9"/>
          <p:cNvSpPr/>
          <p:nvPr/>
        </p:nvSpPr>
        <p:spPr>
          <a:xfrm rot="-7433688">
            <a:off x="-962871" y="-1484464"/>
            <a:ext cx="3935124" cy="3935124"/>
          </a:xfrm>
          <a:prstGeom prst="blockArc">
            <a:avLst>
              <a:gd name="adj1" fmla="val 5958233"/>
              <a:gd name="adj2" fmla="val 20136020"/>
              <a:gd name="adj3" fmla="val 168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9"/>
          <p:cNvSpPr/>
          <p:nvPr/>
        </p:nvSpPr>
        <p:spPr>
          <a:xfrm rot="-6824316">
            <a:off x="5408227" y="4758274"/>
            <a:ext cx="1270604" cy="127115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7"/>
          <p:cNvSpPr txBox="1">
            <a:spLocks noGrp="1"/>
          </p:cNvSpPr>
          <p:nvPr>
            <p:ph type="title"/>
          </p:nvPr>
        </p:nvSpPr>
        <p:spPr>
          <a:xfrm>
            <a:off x="4450946" y="1493550"/>
            <a:ext cx="34932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325" name="Google Shape;1325;p17"/>
          <p:cNvSpPr txBox="1">
            <a:spLocks noGrp="1"/>
          </p:cNvSpPr>
          <p:nvPr>
            <p:ph type="subTitle" idx="1"/>
          </p:nvPr>
        </p:nvSpPr>
        <p:spPr>
          <a:xfrm>
            <a:off x="4450925" y="2634150"/>
            <a:ext cx="34932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6" name="Google Shape;1326;p17"/>
          <p:cNvSpPr/>
          <p:nvPr/>
        </p:nvSpPr>
        <p:spPr>
          <a:xfrm rot="-5400000">
            <a:off x="3094299" y="4025425"/>
            <a:ext cx="2102100" cy="2102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7" name="Google Shape;1327;p17"/>
          <p:cNvGrpSpPr/>
          <p:nvPr/>
        </p:nvGrpSpPr>
        <p:grpSpPr>
          <a:xfrm>
            <a:off x="7342730" y="-239484"/>
            <a:ext cx="2227589" cy="1527191"/>
            <a:chOff x="5519300" y="372750"/>
            <a:chExt cx="1039375" cy="712575"/>
          </a:xfrm>
        </p:grpSpPr>
        <p:sp>
          <p:nvSpPr>
            <p:cNvPr id="1328" name="Google Shape;1328;p1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5" name="Google Shape;1395;p17"/>
          <p:cNvSpPr/>
          <p:nvPr/>
        </p:nvSpPr>
        <p:spPr>
          <a:xfrm rot="-1856039">
            <a:off x="8454804" y="1900412"/>
            <a:ext cx="2574846" cy="2574846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17"/>
          <p:cNvSpPr/>
          <p:nvPr/>
        </p:nvSpPr>
        <p:spPr>
          <a:xfrm>
            <a:off x="8472788" y="1832675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17"/>
          <p:cNvSpPr/>
          <p:nvPr/>
        </p:nvSpPr>
        <p:spPr>
          <a:xfrm rot="-6009249">
            <a:off x="4503832" y="-1121226"/>
            <a:ext cx="2030097" cy="2030097"/>
          </a:xfrm>
          <a:prstGeom prst="blockArc">
            <a:avLst>
              <a:gd name="adj1" fmla="val 5958233"/>
              <a:gd name="adj2" fmla="val 17663173"/>
              <a:gd name="adj3" fmla="val 2497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17"/>
          <p:cNvSpPr/>
          <p:nvPr/>
        </p:nvSpPr>
        <p:spPr>
          <a:xfrm rot="-8814536">
            <a:off x="-1455112" y="-720135"/>
            <a:ext cx="3302921" cy="3302921"/>
          </a:xfrm>
          <a:prstGeom prst="blockArc">
            <a:avLst>
              <a:gd name="adj1" fmla="val 5958233"/>
              <a:gd name="adj2" fmla="val 15340052"/>
              <a:gd name="adj3" fmla="val 859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"/>
          <p:cNvSpPr txBox="1">
            <a:spLocks noGrp="1"/>
          </p:cNvSpPr>
          <p:nvPr>
            <p:ph type="subTitle" idx="1"/>
          </p:nvPr>
        </p:nvSpPr>
        <p:spPr>
          <a:xfrm>
            <a:off x="1261600" y="3442625"/>
            <a:ext cx="3045600" cy="8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5" name="Google Shape;1475;p19"/>
          <p:cNvSpPr txBox="1">
            <a:spLocks noGrp="1"/>
          </p:cNvSpPr>
          <p:nvPr>
            <p:ph type="title"/>
          </p:nvPr>
        </p:nvSpPr>
        <p:spPr>
          <a:xfrm>
            <a:off x="1261600" y="2754425"/>
            <a:ext cx="30456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476" name="Google Shape;1476;p19"/>
          <p:cNvGrpSpPr/>
          <p:nvPr/>
        </p:nvGrpSpPr>
        <p:grpSpPr>
          <a:xfrm>
            <a:off x="5306305" y="3420416"/>
            <a:ext cx="2227589" cy="1527191"/>
            <a:chOff x="5519300" y="372750"/>
            <a:chExt cx="1039375" cy="712575"/>
          </a:xfrm>
        </p:grpSpPr>
        <p:sp>
          <p:nvSpPr>
            <p:cNvPr id="1477" name="Google Shape;1477;p1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4" name="Google Shape;1544;p19"/>
          <p:cNvSpPr/>
          <p:nvPr/>
        </p:nvSpPr>
        <p:spPr>
          <a:xfrm rot="5400000">
            <a:off x="4155725" y="4470421"/>
            <a:ext cx="1647000" cy="1647000"/>
          </a:xfrm>
          <a:prstGeom prst="blockArc">
            <a:avLst>
              <a:gd name="adj1" fmla="val 4879357"/>
              <a:gd name="adj2" fmla="val 17324067"/>
              <a:gd name="adj3" fmla="val 2579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19"/>
          <p:cNvSpPr/>
          <p:nvPr/>
        </p:nvSpPr>
        <p:spPr>
          <a:xfrm rot="10800000" flipH="1">
            <a:off x="4073085" y="4576593"/>
            <a:ext cx="15267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19"/>
          <p:cNvSpPr/>
          <p:nvPr/>
        </p:nvSpPr>
        <p:spPr>
          <a:xfrm flipH="1">
            <a:off x="-1308567" y="-93890"/>
            <a:ext cx="2574600" cy="2574600"/>
          </a:xfrm>
          <a:prstGeom prst="blockArc">
            <a:avLst>
              <a:gd name="adj1" fmla="val 4879357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19"/>
          <p:cNvSpPr/>
          <p:nvPr/>
        </p:nvSpPr>
        <p:spPr>
          <a:xfrm flipH="1">
            <a:off x="-564297" y="-1617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8" name="Google Shape;1548;p19"/>
          <p:cNvGrpSpPr/>
          <p:nvPr/>
        </p:nvGrpSpPr>
        <p:grpSpPr>
          <a:xfrm flipH="1">
            <a:off x="7316928" y="167285"/>
            <a:ext cx="2227589" cy="726958"/>
            <a:chOff x="6972150" y="711750"/>
            <a:chExt cx="1039375" cy="339193"/>
          </a:xfrm>
        </p:grpSpPr>
        <p:sp>
          <p:nvSpPr>
            <p:cNvPr id="1549" name="Google Shape;1549;p19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23"/>
          <p:cNvSpPr txBox="1">
            <a:spLocks noGrp="1"/>
          </p:cNvSpPr>
          <p:nvPr>
            <p:ph type="title"/>
          </p:nvPr>
        </p:nvSpPr>
        <p:spPr>
          <a:xfrm>
            <a:off x="3970800" y="445025"/>
            <a:ext cx="44838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48" name="Google Shape;1948;p23"/>
          <p:cNvSpPr txBox="1">
            <a:spLocks noGrp="1"/>
          </p:cNvSpPr>
          <p:nvPr>
            <p:ph type="title" idx="2"/>
          </p:nvPr>
        </p:nvSpPr>
        <p:spPr>
          <a:xfrm>
            <a:off x="5277829" y="1379975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9" name="Google Shape;1949;p23"/>
          <p:cNvSpPr txBox="1">
            <a:spLocks noGrp="1"/>
          </p:cNvSpPr>
          <p:nvPr>
            <p:ph type="subTitle" idx="1"/>
          </p:nvPr>
        </p:nvSpPr>
        <p:spPr>
          <a:xfrm>
            <a:off x="5277829" y="1809524"/>
            <a:ext cx="285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0" name="Google Shape;1950;p23"/>
          <p:cNvSpPr txBox="1">
            <a:spLocks noGrp="1"/>
          </p:cNvSpPr>
          <p:nvPr>
            <p:ph type="title" idx="3"/>
          </p:nvPr>
        </p:nvSpPr>
        <p:spPr>
          <a:xfrm>
            <a:off x="5277825" y="3050476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51" name="Google Shape;1951;p23"/>
          <p:cNvSpPr txBox="1">
            <a:spLocks noGrp="1"/>
          </p:cNvSpPr>
          <p:nvPr>
            <p:ph type="subTitle" idx="4"/>
          </p:nvPr>
        </p:nvSpPr>
        <p:spPr>
          <a:xfrm>
            <a:off x="5277825" y="3480025"/>
            <a:ext cx="285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2" name="Google Shape;1952;p23"/>
          <p:cNvSpPr/>
          <p:nvPr/>
        </p:nvSpPr>
        <p:spPr>
          <a:xfrm flipH="1">
            <a:off x="-1229493" y="2407871"/>
            <a:ext cx="2468100" cy="2468100"/>
          </a:xfrm>
          <a:prstGeom prst="blockArc">
            <a:avLst>
              <a:gd name="adj1" fmla="val 4832860"/>
              <a:gd name="adj2" fmla="val 19296739"/>
              <a:gd name="adj3" fmla="val 923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23"/>
          <p:cNvSpPr/>
          <p:nvPr/>
        </p:nvSpPr>
        <p:spPr>
          <a:xfrm>
            <a:off x="-753325" y="2573175"/>
            <a:ext cx="1725900" cy="1725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4" name="Google Shape;1954;p23"/>
          <p:cNvGrpSpPr/>
          <p:nvPr/>
        </p:nvGrpSpPr>
        <p:grpSpPr>
          <a:xfrm rot="-5400000">
            <a:off x="7773103" y="3158403"/>
            <a:ext cx="2227588" cy="726522"/>
            <a:chOff x="3857800" y="1143286"/>
            <a:chExt cx="1039375" cy="338989"/>
          </a:xfrm>
        </p:grpSpPr>
        <p:sp>
          <p:nvSpPr>
            <p:cNvPr id="1955" name="Google Shape;1955;p2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5" name="Google Shape;1985;p23"/>
          <p:cNvSpPr/>
          <p:nvPr/>
        </p:nvSpPr>
        <p:spPr>
          <a:xfrm>
            <a:off x="8622516" y="1485980"/>
            <a:ext cx="1378800" cy="1378800"/>
          </a:xfrm>
          <a:prstGeom prst="blockArc">
            <a:avLst>
              <a:gd name="adj1" fmla="val 4832860"/>
              <a:gd name="adj2" fmla="val 18782450"/>
              <a:gd name="adj3" fmla="val 2026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23"/>
          <p:cNvSpPr/>
          <p:nvPr/>
        </p:nvSpPr>
        <p:spPr>
          <a:xfrm>
            <a:off x="2468575" y="-646225"/>
            <a:ext cx="1185600" cy="1185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_1_1_2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716077" y="3282010"/>
            <a:ext cx="2227568" cy="326604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8066614" y="3302903"/>
            <a:ext cx="1986206" cy="1986646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8098025" y="3495149"/>
            <a:ext cx="1534706" cy="153472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466385" y="950324"/>
            <a:ext cx="2255655" cy="2255712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951810" y="1473801"/>
            <a:ext cx="1742900" cy="174295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7876900" y="1636706"/>
            <a:ext cx="2036537" cy="726522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381821" y="-103359"/>
            <a:ext cx="2227588" cy="726522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4597" y="3947683"/>
            <a:ext cx="665700" cy="11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936100" y="4678764"/>
            <a:ext cx="2593314" cy="2593371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1537977" y="4676626"/>
            <a:ext cx="2003838" cy="20038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2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85" name="Google Shape;2385;p28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6" name="Google Shape;2386;p28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7" name="Google Shape;2387;p28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8" name="Google Shape;2388;p28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9" name="Google Shape;2389;p28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0" name="Google Shape;2390;p28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1" name="Google Shape;2391;p28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2" name="Google Shape;2392;p28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3" name="Google Shape;2393;p28"/>
          <p:cNvSpPr txBox="1">
            <a:spLocks noGrp="1"/>
          </p:cNvSpPr>
          <p:nvPr>
            <p:ph type="title" idx="9"/>
          </p:nvPr>
        </p:nvSpPr>
        <p:spPr>
          <a:xfrm>
            <a:off x="3671479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4" name="Google Shape;2394;p28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5" name="Google Shape;2395;p28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6" name="Google Shape;2396;p28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7" name="Google Shape;2397;p28"/>
          <p:cNvSpPr/>
          <p:nvPr/>
        </p:nvSpPr>
        <p:spPr>
          <a:xfrm rot="-4499800" flipH="1">
            <a:off x="8145920" y="4621513"/>
            <a:ext cx="1939931" cy="1939931"/>
          </a:xfrm>
          <a:prstGeom prst="blockArc">
            <a:avLst>
              <a:gd name="adj1" fmla="val 5958233"/>
              <a:gd name="adj2" fmla="val 17385308"/>
              <a:gd name="adj3" fmla="val 2038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8" name="Google Shape;2398;p28"/>
          <p:cNvGrpSpPr/>
          <p:nvPr/>
        </p:nvGrpSpPr>
        <p:grpSpPr>
          <a:xfrm>
            <a:off x="6046058" y="4642569"/>
            <a:ext cx="2227568" cy="326167"/>
            <a:chOff x="2570033" y="6824869"/>
            <a:chExt cx="2227568" cy="326167"/>
          </a:xfrm>
        </p:grpSpPr>
        <p:sp>
          <p:nvSpPr>
            <p:cNvPr id="2399" name="Google Shape;2399;p28"/>
            <p:cNvSpPr/>
            <p:nvPr/>
          </p:nvSpPr>
          <p:spPr>
            <a:xfrm>
              <a:off x="448054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467160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3907394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409844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371634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371634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333423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3334239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352529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3525291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3143188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761084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95213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952136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57003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7003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5" name="Google Shape;2415;p28"/>
          <p:cNvGrpSpPr/>
          <p:nvPr/>
        </p:nvGrpSpPr>
        <p:grpSpPr>
          <a:xfrm rot="5400000" flipH="1">
            <a:off x="-759306" y="2004490"/>
            <a:ext cx="2227588" cy="726522"/>
            <a:chOff x="3857800" y="1143286"/>
            <a:chExt cx="1039375" cy="338989"/>
          </a:xfrm>
        </p:grpSpPr>
        <p:sp>
          <p:nvSpPr>
            <p:cNvPr id="2416" name="Google Shape;2416;p2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5" name="Google Shape;2445;p28"/>
          <p:cNvSpPr/>
          <p:nvPr/>
        </p:nvSpPr>
        <p:spPr>
          <a:xfrm rot="900224" flipH="1">
            <a:off x="-2339988" y="124094"/>
            <a:ext cx="3016433" cy="3016433"/>
          </a:xfrm>
          <a:prstGeom prst="blockArc">
            <a:avLst>
              <a:gd name="adj1" fmla="val 5958233"/>
              <a:gd name="adj2" fmla="val 17310751"/>
              <a:gd name="adj3" fmla="val 85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28"/>
          <p:cNvSpPr/>
          <p:nvPr/>
        </p:nvSpPr>
        <p:spPr>
          <a:xfrm>
            <a:off x="-320815" y="-554925"/>
            <a:ext cx="1224600" cy="122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8"/>
          <p:cNvSpPr/>
          <p:nvPr/>
        </p:nvSpPr>
        <p:spPr>
          <a:xfrm flipH="1">
            <a:off x="8212786" y="4580724"/>
            <a:ext cx="16089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28"/>
          <p:cNvSpPr/>
          <p:nvPr/>
        </p:nvSpPr>
        <p:spPr>
          <a:xfrm>
            <a:off x="8634823" y="1282193"/>
            <a:ext cx="1409100" cy="1409100"/>
          </a:xfrm>
          <a:prstGeom prst="blockArc">
            <a:avLst>
              <a:gd name="adj1" fmla="val 2709197"/>
              <a:gd name="adj2" fmla="val 16176137"/>
              <a:gd name="adj3" fmla="val 2610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28"/>
          <p:cNvSpPr/>
          <p:nvPr/>
        </p:nvSpPr>
        <p:spPr>
          <a:xfrm flipH="1">
            <a:off x="8400260" y="365000"/>
            <a:ext cx="2140200" cy="214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0" name="Google Shape;2450;p28"/>
          <p:cNvGrpSpPr/>
          <p:nvPr/>
        </p:nvGrpSpPr>
        <p:grpSpPr>
          <a:xfrm rot="-5400000">
            <a:off x="7731943" y="2532269"/>
            <a:ext cx="2227588" cy="726522"/>
            <a:chOff x="3799000" y="1820400"/>
            <a:chExt cx="1039375" cy="338989"/>
          </a:xfrm>
        </p:grpSpPr>
        <p:sp>
          <p:nvSpPr>
            <p:cNvPr id="2451" name="Google Shape;2451;p2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9"/>
          <p:cNvSpPr txBox="1">
            <a:spLocks noGrp="1"/>
          </p:cNvSpPr>
          <p:nvPr>
            <p:ph type="title" hasCustomPrompt="1"/>
          </p:nvPr>
        </p:nvSpPr>
        <p:spPr>
          <a:xfrm>
            <a:off x="1122713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7" name="Google Shape;2487;p29"/>
          <p:cNvSpPr txBox="1">
            <a:spLocks noGrp="1"/>
          </p:cNvSpPr>
          <p:nvPr>
            <p:ph type="subTitle" idx="1"/>
          </p:nvPr>
        </p:nvSpPr>
        <p:spPr>
          <a:xfrm>
            <a:off x="1122713" y="2898176"/>
            <a:ext cx="21243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8" name="Google Shape;2488;p29"/>
          <p:cNvSpPr txBox="1">
            <a:spLocks noGrp="1"/>
          </p:cNvSpPr>
          <p:nvPr>
            <p:ph type="title" idx="2" hasCustomPrompt="1"/>
          </p:nvPr>
        </p:nvSpPr>
        <p:spPr>
          <a:xfrm>
            <a:off x="3509850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9" name="Google Shape;2489;p29"/>
          <p:cNvSpPr txBox="1">
            <a:spLocks noGrp="1"/>
          </p:cNvSpPr>
          <p:nvPr>
            <p:ph type="subTitle" idx="3"/>
          </p:nvPr>
        </p:nvSpPr>
        <p:spPr>
          <a:xfrm>
            <a:off x="3509850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90" name="Google Shape;2490;p29"/>
          <p:cNvSpPr txBox="1">
            <a:spLocks noGrp="1"/>
          </p:cNvSpPr>
          <p:nvPr>
            <p:ph type="title" idx="4" hasCustomPrompt="1"/>
          </p:nvPr>
        </p:nvSpPr>
        <p:spPr>
          <a:xfrm>
            <a:off x="5896982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91" name="Google Shape;2491;p29"/>
          <p:cNvSpPr txBox="1">
            <a:spLocks noGrp="1"/>
          </p:cNvSpPr>
          <p:nvPr>
            <p:ph type="subTitle" idx="5"/>
          </p:nvPr>
        </p:nvSpPr>
        <p:spPr>
          <a:xfrm>
            <a:off x="5896982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492" name="Google Shape;2492;p29"/>
          <p:cNvGrpSpPr/>
          <p:nvPr/>
        </p:nvGrpSpPr>
        <p:grpSpPr>
          <a:xfrm rot="5400000">
            <a:off x="-868396" y="1289916"/>
            <a:ext cx="2227588" cy="726522"/>
            <a:chOff x="3620725" y="372750"/>
            <a:chExt cx="1039375" cy="338989"/>
          </a:xfrm>
        </p:grpSpPr>
        <p:sp>
          <p:nvSpPr>
            <p:cNvPr id="2493" name="Google Shape;2493;p29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9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9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9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9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9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9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0" name="Google Shape;2530;p29"/>
          <p:cNvSpPr/>
          <p:nvPr/>
        </p:nvSpPr>
        <p:spPr>
          <a:xfrm flipH="1">
            <a:off x="-794850" y="141401"/>
            <a:ext cx="1455000" cy="1455300"/>
          </a:xfrm>
          <a:prstGeom prst="blockArc">
            <a:avLst>
              <a:gd name="adj1" fmla="val 4766272"/>
              <a:gd name="adj2" fmla="val 17672272"/>
              <a:gd name="adj3" fmla="val 1659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1" name="Google Shape;2531;p29"/>
          <p:cNvGrpSpPr/>
          <p:nvPr/>
        </p:nvGrpSpPr>
        <p:grpSpPr>
          <a:xfrm>
            <a:off x="-76197" y="4699178"/>
            <a:ext cx="2227588" cy="726522"/>
            <a:chOff x="3857800" y="1143286"/>
            <a:chExt cx="1039375" cy="338989"/>
          </a:xfrm>
        </p:grpSpPr>
        <p:sp>
          <p:nvSpPr>
            <p:cNvPr id="2532" name="Google Shape;2532;p29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9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9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2" name="Google Shape;256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199" y="3715944"/>
            <a:ext cx="977775" cy="15478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3" name="Google Shape;2563;p29"/>
          <p:cNvGrpSpPr/>
          <p:nvPr/>
        </p:nvGrpSpPr>
        <p:grpSpPr>
          <a:xfrm rot="5400000">
            <a:off x="8023230" y="2609103"/>
            <a:ext cx="2227589" cy="1527191"/>
            <a:chOff x="5519300" y="372750"/>
            <a:chExt cx="1039375" cy="712575"/>
          </a:xfrm>
        </p:grpSpPr>
        <p:sp>
          <p:nvSpPr>
            <p:cNvPr id="2564" name="Google Shape;2564;p2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1" name="Google Shape;2631;p29"/>
          <p:cNvGrpSpPr/>
          <p:nvPr/>
        </p:nvGrpSpPr>
        <p:grpSpPr>
          <a:xfrm>
            <a:off x="7007878" y="-187147"/>
            <a:ext cx="2227588" cy="726522"/>
            <a:chOff x="3857800" y="1143286"/>
            <a:chExt cx="1039375" cy="338989"/>
          </a:xfrm>
        </p:grpSpPr>
        <p:sp>
          <p:nvSpPr>
            <p:cNvPr id="2632" name="Google Shape;2632;p29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9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2" name="Google Shape;2662;p29"/>
          <p:cNvSpPr/>
          <p:nvPr/>
        </p:nvSpPr>
        <p:spPr>
          <a:xfrm>
            <a:off x="8454758" y="2534060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" name="Google Shape;2663;p29"/>
          <p:cNvSpPr/>
          <p:nvPr/>
        </p:nvSpPr>
        <p:spPr>
          <a:xfrm>
            <a:off x="8472788" y="246625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4" name="Google Shape;26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475" y="-222314"/>
            <a:ext cx="1455000" cy="152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62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8" r:id="rId6"/>
    <p:sldLayoutId id="2147483663" r:id="rId7"/>
    <p:sldLayoutId id="2147483665" r:id="rId8"/>
    <p:sldLayoutId id="2147483669" r:id="rId9"/>
    <p:sldLayoutId id="2147483671" r:id="rId10"/>
    <p:sldLayoutId id="2147483674" r:id="rId11"/>
    <p:sldLayoutId id="2147483675" r:id="rId12"/>
    <p:sldLayoutId id="2147483679" r:id="rId13"/>
    <p:sldLayoutId id="2147483680" r:id="rId14"/>
    <p:sldLayoutId id="214748368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46150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38"/>
          <p:cNvGrpSpPr/>
          <p:nvPr/>
        </p:nvGrpSpPr>
        <p:grpSpPr>
          <a:xfrm>
            <a:off x="251783" y="4096069"/>
            <a:ext cx="2227588" cy="726522"/>
            <a:chOff x="3799000" y="1820400"/>
            <a:chExt cx="1039375" cy="338989"/>
          </a:xfrm>
        </p:grpSpPr>
        <p:sp>
          <p:nvSpPr>
            <p:cNvPr id="3091" name="Google Shape;3091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7" name="Google Shape;3127;p38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150" name="Google Shape;31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6607" y="2135501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1" name="Google Shape;315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5468" y="918625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00" y="1780150"/>
            <a:ext cx="923250" cy="12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3" name="Google Shape;315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9125" y="2726398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4" name="Google Shape;3154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8075" y="2867343"/>
            <a:ext cx="923250" cy="11679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Text 1">
            <a:extLst>
              <a:ext uri="{FF2B5EF4-FFF2-40B4-BE49-F238E27FC236}">
                <a16:creationId xmlns:a16="http://schemas.microsoft.com/office/drawing/2014/main" id="{4BFC37AE-5736-4676-A29A-CD1D11B6CECD}"/>
              </a:ext>
            </a:extLst>
          </p:cNvPr>
          <p:cNvSpPr txBox="1"/>
          <p:nvPr/>
        </p:nvSpPr>
        <p:spPr>
          <a:xfrm>
            <a:off x="3399503" y="583702"/>
            <a:ext cx="4003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kern="0" spc="10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پروژه </a:t>
            </a:r>
            <a:r>
              <a:rPr lang="en-US" sz="1500" b="1" kern="0" spc="100" err="1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پایانی</a:t>
            </a:r>
            <a:r>
              <a:rPr lang="en-US" sz="1500" b="1" kern="0" spc="10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1500" b="1" kern="0" spc="100" err="1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کارشناسی</a:t>
            </a:r>
            <a:r>
              <a:rPr lang="fa-IR" sz="1500" b="1" kern="0" spc="10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مهندسی برق_ مخابرات</a:t>
            </a:r>
            <a:endParaRPr lang="en-US" sz="1500" b="1">
              <a:cs typeface="B Nazanin" panose="00000400000000000000" pitchFamily="2" charset="-78"/>
            </a:endParaRPr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778171E4-020A-4D8B-ACCC-A8676D82DAB8}"/>
              </a:ext>
            </a:extLst>
          </p:cNvPr>
          <p:cNvSpPr txBox="1"/>
          <p:nvPr/>
        </p:nvSpPr>
        <p:spPr>
          <a:xfrm>
            <a:off x="3838543" y="2822530"/>
            <a:ext cx="5207838" cy="750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7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یک Web Application Firewall با </a:t>
            </a:r>
            <a:r>
              <a:rPr lang="en-US" sz="1700" b="1" err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موتور</a:t>
            </a:r>
            <a:r>
              <a:rPr lang="en-US" sz="17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1700" b="1" err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تشخیص</a:t>
            </a:r>
            <a:r>
              <a:rPr lang="en-US" sz="17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1700" b="1" err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هیبرید</a:t>
            </a:r>
            <a:r>
              <a:rPr lang="en-US" sz="17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 </a:t>
            </a:r>
          </a:p>
          <a:p>
            <a:pPr marL="0" indent="0" algn="ctr" rtl="1">
              <a:buNone/>
            </a:pPr>
            <a:r>
              <a:rPr lang="en-US" sz="17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Nazanin" panose="00000400000000000000" pitchFamily="2" charset="-78"/>
              </a:rPr>
              <a:t>(Rule-Based + Machine Learning)</a:t>
            </a:r>
            <a:endParaRPr lang="en-US" sz="1700" b="1">
              <a:latin typeface="Baskerville Old Face" panose="02020602080505020303" pitchFamily="18" charset="0"/>
              <a:cs typeface="B Nazanin" panose="00000400000000000000" pitchFamily="2" charset="-78"/>
            </a:endParaRPr>
          </a:p>
        </p:txBody>
      </p:sp>
      <p:sp>
        <p:nvSpPr>
          <p:cNvPr id="81" name="Text 4">
            <a:extLst>
              <a:ext uri="{FF2B5EF4-FFF2-40B4-BE49-F238E27FC236}">
                <a16:creationId xmlns:a16="http://schemas.microsoft.com/office/drawing/2014/main" id="{9B545ECD-7302-4940-BAD0-04CC9F061A0C}"/>
              </a:ext>
            </a:extLst>
          </p:cNvPr>
          <p:cNvSpPr txBox="1"/>
          <p:nvPr/>
        </p:nvSpPr>
        <p:spPr>
          <a:xfrm>
            <a:off x="3631357" y="3609790"/>
            <a:ext cx="58689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Badr" panose="00000400000000000000" pitchFamily="2" charset="-78"/>
              </a:rPr>
              <a:t>محدثه احمدی جیوان </a:t>
            </a:r>
            <a:r>
              <a:rPr lang="fa-IR" sz="16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Badr" panose="00000400000000000000" pitchFamily="2" charset="-78"/>
              </a:rPr>
              <a:t> -  </a:t>
            </a:r>
            <a:r>
              <a:rPr lang="en-US" sz="1600" b="1">
                <a:solidFill>
                  <a:srgbClr val="EAF2FB"/>
                </a:solidFill>
                <a:latin typeface="Baskerville Old Face" panose="02020602080505020303" pitchFamily="18" charset="0"/>
                <a:ea typeface="Arial" pitchFamily="34" charset="-122"/>
                <a:cs typeface="B Badr" panose="00000400000000000000" pitchFamily="2" charset="-78"/>
              </a:rPr>
              <a:t>شماره دانشجویی 9911522901</a:t>
            </a:r>
            <a:endParaRPr lang="en-US" sz="1600" b="1">
              <a:latin typeface="Baskerville Old Face" panose="02020602080505020303" pitchFamily="18" charset="0"/>
              <a:cs typeface="B Badr" panose="00000400000000000000" pitchFamily="2" charset="-78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C66CB963-E2E2-4EF4-9B70-1ABDBC925E13}"/>
              </a:ext>
            </a:extLst>
          </p:cNvPr>
          <p:cNvSpPr txBox="1"/>
          <p:nvPr/>
        </p:nvSpPr>
        <p:spPr>
          <a:xfrm>
            <a:off x="4807541" y="4096069"/>
            <a:ext cx="3516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دانشگاه صداوسیما — دانشکده فنی و مهندسی رسانه</a:t>
            </a:r>
            <a:endParaRPr lang="en-US" sz="13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B745C8-AB8A-4EDC-982E-556C8FEC01BE}"/>
              </a:ext>
            </a:extLst>
          </p:cNvPr>
          <p:cNvSpPr txBox="1"/>
          <p:nvPr/>
        </p:nvSpPr>
        <p:spPr>
          <a:xfrm>
            <a:off x="3665499" y="1314005"/>
            <a:ext cx="501167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طراحی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و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پیاده‌سازی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دیواره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آتش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هوشمند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  </a:t>
            </a: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ranNastaliq" panose="02020505000000020003" pitchFamily="18" charset="0"/>
              <a:ea typeface="Arial" pitchFamily="34" charset="-122"/>
              <a:cs typeface="IranNastaliq" panose="02020505000000020003" pitchFamily="18" charset="0"/>
              <a:sym typeface="Arial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ranNastaliq" panose="02020505000000020003" pitchFamily="18" charset="0"/>
              <a:ea typeface="Arial" pitchFamily="34" charset="-122"/>
              <a:cs typeface="IranNastaliq" panose="02020505000000020003" pitchFamily="18" charset="0"/>
              <a:sym typeface="Arial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برنامه‌های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تحت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 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ranNastaliq" panose="02020505000000020003" pitchFamily="18" charset="0"/>
                <a:ea typeface="Arial" pitchFamily="34" charset="-122"/>
                <a:cs typeface="IranNastaliq" panose="02020505000000020003" pitchFamily="18" charset="0"/>
                <a:sym typeface="Arial"/>
              </a:rPr>
              <a:t>وب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Nastaliq" panose="02020505000000020003" pitchFamily="18" charset="0"/>
              <a:cs typeface="IranNastaliq" panose="02020505000000020003" pitchFamily="18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69;p74">
            <a:extLst>
              <a:ext uri="{FF2B5EF4-FFF2-40B4-BE49-F238E27FC236}">
                <a16:creationId xmlns:a16="http://schemas.microsoft.com/office/drawing/2014/main" id="{40046E39-4DCA-4B6B-B138-E32000E391F6}"/>
              </a:ext>
            </a:extLst>
          </p:cNvPr>
          <p:cNvSpPr/>
          <p:nvPr/>
        </p:nvSpPr>
        <p:spPr>
          <a:xfrm>
            <a:off x="6523868" y="338542"/>
            <a:ext cx="2055786" cy="787585"/>
          </a:xfrm>
          <a:custGeom>
            <a:avLst/>
            <a:gdLst/>
            <a:ahLst/>
            <a:cxnLst/>
            <a:rect l="l" t="t" r="r" b="b"/>
            <a:pathLst>
              <a:path w="152646" h="69021" extrusionOk="0">
                <a:moveTo>
                  <a:pt x="5576" y="1"/>
                </a:moveTo>
                <a:cubicBezTo>
                  <a:pt x="2482" y="1"/>
                  <a:pt x="1" y="2482"/>
                  <a:pt x="1" y="5576"/>
                </a:cubicBezTo>
                <a:lnTo>
                  <a:pt x="1" y="63445"/>
                </a:lnTo>
                <a:cubicBezTo>
                  <a:pt x="1" y="66511"/>
                  <a:pt x="2482" y="69020"/>
                  <a:pt x="5576" y="69020"/>
                </a:cubicBezTo>
                <a:lnTo>
                  <a:pt x="147071" y="69020"/>
                </a:lnTo>
                <a:cubicBezTo>
                  <a:pt x="150137" y="69020"/>
                  <a:pt x="152646" y="66511"/>
                  <a:pt x="152646" y="63445"/>
                </a:cubicBezTo>
                <a:lnTo>
                  <a:pt x="152646" y="5576"/>
                </a:lnTo>
                <a:cubicBezTo>
                  <a:pt x="152646" y="2482"/>
                  <a:pt x="150137" y="1"/>
                  <a:pt x="147071" y="1"/>
                </a:cubicBezTo>
                <a:close/>
              </a:path>
            </a:pathLst>
          </a:custGeom>
          <a:gradFill>
            <a:gsLst>
              <a:gs pos="0">
                <a:srgbClr val="0A3250"/>
              </a:gs>
              <a:gs pos="100000">
                <a:srgbClr val="010101"/>
              </a:gs>
            </a:gsLst>
            <a:lin ang="5400700" scaled="0"/>
          </a:gra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dist="1905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01" name="Google Shape;3601;p45"/>
          <p:cNvSpPr txBox="1">
            <a:spLocks noGrp="1"/>
          </p:cNvSpPr>
          <p:nvPr>
            <p:ph type="title"/>
          </p:nvPr>
        </p:nvSpPr>
        <p:spPr>
          <a:xfrm>
            <a:off x="6480321" y="432743"/>
            <a:ext cx="2170662" cy="602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 sz="3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چیست؟</a:t>
            </a:r>
            <a:endParaRPr sz="3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603" name="Google Shape;3603;p45"/>
          <p:cNvSpPr txBox="1">
            <a:spLocks noGrp="1"/>
          </p:cNvSpPr>
          <p:nvPr>
            <p:ph type="subTitle" idx="2"/>
          </p:nvPr>
        </p:nvSpPr>
        <p:spPr>
          <a:xfrm>
            <a:off x="5563989" y="3927209"/>
            <a:ext cx="2343375" cy="349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بررسی بخش‌هایی مانند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URL،Query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Body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grpSp>
        <p:nvGrpSpPr>
          <p:cNvPr id="6" name="Google Shape;689;p54">
            <a:extLst>
              <a:ext uri="{FF2B5EF4-FFF2-40B4-BE49-F238E27FC236}">
                <a16:creationId xmlns:a16="http://schemas.microsoft.com/office/drawing/2014/main" id="{01601B18-3C1F-4290-A7CB-2350D09C25C2}"/>
              </a:ext>
            </a:extLst>
          </p:cNvPr>
          <p:cNvGrpSpPr/>
          <p:nvPr/>
        </p:nvGrpSpPr>
        <p:grpSpPr>
          <a:xfrm>
            <a:off x="375485" y="246455"/>
            <a:ext cx="5726519" cy="1052542"/>
            <a:chOff x="832911" y="751027"/>
            <a:chExt cx="7478177" cy="3641447"/>
          </a:xfrm>
        </p:grpSpPr>
        <p:sp>
          <p:nvSpPr>
            <p:cNvPr id="7" name="Google Shape;690;p54">
              <a:extLst>
                <a:ext uri="{FF2B5EF4-FFF2-40B4-BE49-F238E27FC236}">
                  <a16:creationId xmlns:a16="http://schemas.microsoft.com/office/drawing/2014/main" id="{1DF0DDD3-65E6-4C08-AAD9-2C3044CC4560}"/>
                </a:ext>
              </a:extLst>
            </p:cNvPr>
            <p:cNvSpPr/>
            <p:nvPr/>
          </p:nvSpPr>
          <p:spPr>
            <a:xfrm>
              <a:off x="832911" y="751027"/>
              <a:ext cx="7478177" cy="3641447"/>
            </a:xfrm>
            <a:custGeom>
              <a:avLst/>
              <a:gdLst/>
              <a:ahLst/>
              <a:cxnLst/>
              <a:rect l="l" t="t" r="r" b="b"/>
              <a:pathLst>
                <a:path w="52666" h="29862" extrusionOk="0">
                  <a:moveTo>
                    <a:pt x="50286" y="29116"/>
                  </a:moveTo>
                  <a:cubicBezTo>
                    <a:pt x="50145" y="29539"/>
                    <a:pt x="49741" y="29842"/>
                    <a:pt x="49298" y="29862"/>
                  </a:cubicBezTo>
                  <a:lnTo>
                    <a:pt x="3368" y="29862"/>
                  </a:lnTo>
                  <a:cubicBezTo>
                    <a:pt x="2904" y="29842"/>
                    <a:pt x="2521" y="29539"/>
                    <a:pt x="2380" y="29116"/>
                  </a:cubicBezTo>
                  <a:cubicBezTo>
                    <a:pt x="2380" y="29116"/>
                    <a:pt x="0" y="21071"/>
                    <a:pt x="0" y="14820"/>
                  </a:cubicBezTo>
                  <a:cubicBezTo>
                    <a:pt x="0" y="8590"/>
                    <a:pt x="2380" y="747"/>
                    <a:pt x="2380" y="747"/>
                  </a:cubicBezTo>
                  <a:cubicBezTo>
                    <a:pt x="2521" y="303"/>
                    <a:pt x="2904" y="1"/>
                    <a:pt x="3368" y="1"/>
                  </a:cubicBezTo>
                  <a:lnTo>
                    <a:pt x="49298" y="1"/>
                  </a:lnTo>
                  <a:cubicBezTo>
                    <a:pt x="49741" y="1"/>
                    <a:pt x="50145" y="303"/>
                    <a:pt x="50286" y="747"/>
                  </a:cubicBezTo>
                  <a:cubicBezTo>
                    <a:pt x="50286" y="747"/>
                    <a:pt x="52665" y="8590"/>
                    <a:pt x="52665" y="14820"/>
                  </a:cubicBezTo>
                  <a:cubicBezTo>
                    <a:pt x="52665" y="21071"/>
                    <a:pt x="50286" y="29116"/>
                    <a:pt x="50286" y="29116"/>
                  </a:cubicBezTo>
                  <a:close/>
                </a:path>
              </a:pathLst>
            </a:custGeom>
            <a:gradFill>
              <a:gsLst>
                <a:gs pos="0">
                  <a:srgbClr val="0A3250"/>
                </a:gs>
                <a:gs pos="100000">
                  <a:srgbClr val="010101"/>
                </a:gs>
              </a:gsLst>
              <a:lin ang="5400012" scaled="0"/>
            </a:gra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57163" dist="9525" algn="bl" rotWithShape="0">
                <a:srgbClr val="7EFFFF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691;p54">
              <a:extLst>
                <a:ext uri="{FF2B5EF4-FFF2-40B4-BE49-F238E27FC236}">
                  <a16:creationId xmlns:a16="http://schemas.microsoft.com/office/drawing/2014/main" id="{ED544648-F962-402F-AF73-48F24F260E5F}"/>
                </a:ext>
              </a:extLst>
            </p:cNvPr>
            <p:cNvGrpSpPr/>
            <p:nvPr/>
          </p:nvGrpSpPr>
          <p:grpSpPr>
            <a:xfrm>
              <a:off x="852526" y="765015"/>
              <a:ext cx="7438956" cy="3621101"/>
              <a:chOff x="852526" y="765015"/>
              <a:chExt cx="7438956" cy="3621101"/>
            </a:xfrm>
          </p:grpSpPr>
          <p:sp>
            <p:nvSpPr>
              <p:cNvPr id="9" name="Google Shape;692;p54">
                <a:extLst>
                  <a:ext uri="{FF2B5EF4-FFF2-40B4-BE49-F238E27FC236}">
                    <a16:creationId xmlns:a16="http://schemas.microsoft.com/office/drawing/2014/main" id="{D57B69AC-1F4B-4B98-BE50-BC8BE56F4167}"/>
                  </a:ext>
                </a:extLst>
              </p:cNvPr>
              <p:cNvSpPr/>
              <p:nvPr/>
            </p:nvSpPr>
            <p:spPr>
              <a:xfrm>
                <a:off x="852541" y="765015"/>
                <a:ext cx="7438941" cy="3613451"/>
              </a:xfrm>
              <a:custGeom>
                <a:avLst/>
                <a:gdLst/>
                <a:ahLst/>
                <a:cxnLst/>
                <a:rect l="l" t="t" r="r" b="b"/>
                <a:pathLst>
                  <a:path w="52666" h="29862" extrusionOk="0">
                    <a:moveTo>
                      <a:pt x="50286" y="29116"/>
                    </a:moveTo>
                    <a:cubicBezTo>
                      <a:pt x="50145" y="29539"/>
                      <a:pt x="49741" y="29842"/>
                      <a:pt x="49298" y="29862"/>
                    </a:cubicBezTo>
                    <a:lnTo>
                      <a:pt x="3368" y="29862"/>
                    </a:lnTo>
                    <a:cubicBezTo>
                      <a:pt x="2904" y="29842"/>
                      <a:pt x="2521" y="29539"/>
                      <a:pt x="2380" y="29116"/>
                    </a:cubicBezTo>
                    <a:cubicBezTo>
                      <a:pt x="2380" y="29116"/>
                      <a:pt x="0" y="21071"/>
                      <a:pt x="0" y="14820"/>
                    </a:cubicBezTo>
                    <a:cubicBezTo>
                      <a:pt x="0" y="8590"/>
                      <a:pt x="2380" y="747"/>
                      <a:pt x="2380" y="747"/>
                    </a:cubicBezTo>
                    <a:cubicBezTo>
                      <a:pt x="2521" y="303"/>
                      <a:pt x="2904" y="1"/>
                      <a:pt x="3368" y="1"/>
                    </a:cubicBezTo>
                    <a:lnTo>
                      <a:pt x="49298" y="1"/>
                    </a:lnTo>
                    <a:cubicBezTo>
                      <a:pt x="49741" y="1"/>
                      <a:pt x="50145" y="303"/>
                      <a:pt x="50286" y="747"/>
                    </a:cubicBezTo>
                    <a:cubicBezTo>
                      <a:pt x="50286" y="747"/>
                      <a:pt x="52665" y="8590"/>
                      <a:pt x="52665" y="14820"/>
                    </a:cubicBezTo>
                    <a:cubicBezTo>
                      <a:pt x="52665" y="21071"/>
                      <a:pt x="50286" y="29116"/>
                      <a:pt x="50286" y="291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A3250"/>
                  </a:gs>
                  <a:gs pos="100000">
                    <a:srgbClr val="010101"/>
                  </a:gs>
                </a:gsLst>
                <a:lin ang="5400012" scaled="0"/>
              </a:gra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93;p54">
                <a:extLst>
                  <a:ext uri="{FF2B5EF4-FFF2-40B4-BE49-F238E27FC236}">
                    <a16:creationId xmlns:a16="http://schemas.microsoft.com/office/drawing/2014/main" id="{8DC4C037-7337-407D-B825-A51715C4DAB9}"/>
                  </a:ext>
                </a:extLst>
              </p:cNvPr>
              <p:cNvSpPr/>
              <p:nvPr/>
            </p:nvSpPr>
            <p:spPr>
              <a:xfrm>
                <a:off x="852526" y="765035"/>
                <a:ext cx="2773960" cy="2637546"/>
              </a:xfrm>
              <a:custGeom>
                <a:avLst/>
                <a:gdLst/>
                <a:ahLst/>
                <a:cxnLst/>
                <a:rect l="l" t="t" r="r" b="b"/>
                <a:pathLst>
                  <a:path w="19639" h="21797" extrusionOk="0">
                    <a:moveTo>
                      <a:pt x="3367" y="1"/>
                    </a:moveTo>
                    <a:cubicBezTo>
                      <a:pt x="2924" y="1"/>
                      <a:pt x="2520" y="303"/>
                      <a:pt x="2379" y="747"/>
                    </a:cubicBezTo>
                    <a:cubicBezTo>
                      <a:pt x="2379" y="747"/>
                      <a:pt x="0" y="8590"/>
                      <a:pt x="0" y="14840"/>
                    </a:cubicBezTo>
                    <a:cubicBezTo>
                      <a:pt x="40" y="17159"/>
                      <a:pt x="282" y="19498"/>
                      <a:pt x="706" y="21796"/>
                    </a:cubicBezTo>
                    <a:lnTo>
                      <a:pt x="19638" y="1"/>
                    </a:lnTo>
                    <a:close/>
                  </a:path>
                </a:pathLst>
              </a:custGeom>
              <a:gradFill>
                <a:gsLst>
                  <a:gs pos="0">
                    <a:srgbClr val="00FFFF">
                      <a:alpha val="14902"/>
                      <a:alpha val="7870"/>
                    </a:srgbClr>
                  </a:gs>
                  <a:gs pos="100000">
                    <a:srgbClr val="FFFFFF">
                      <a:alpha val="0"/>
                      <a:alpha val="7870"/>
                    </a:srgbClr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94;p54">
                <a:extLst>
                  <a:ext uri="{FF2B5EF4-FFF2-40B4-BE49-F238E27FC236}">
                    <a16:creationId xmlns:a16="http://schemas.microsoft.com/office/drawing/2014/main" id="{CCE0B429-B8C2-47C4-92D7-19182C71D693}"/>
                  </a:ext>
                </a:extLst>
              </p:cNvPr>
              <p:cNvSpPr/>
              <p:nvPr/>
            </p:nvSpPr>
            <p:spPr>
              <a:xfrm>
                <a:off x="4156925" y="770243"/>
                <a:ext cx="4112563" cy="3615873"/>
              </a:xfrm>
              <a:custGeom>
                <a:avLst/>
                <a:gdLst/>
                <a:ahLst/>
                <a:cxnLst/>
                <a:rect l="l" t="t" r="r" b="b"/>
                <a:pathLst>
                  <a:path w="29116" h="29882" extrusionOk="0">
                    <a:moveTo>
                      <a:pt x="25768" y="29881"/>
                    </a:moveTo>
                    <a:cubicBezTo>
                      <a:pt x="26212" y="29861"/>
                      <a:pt x="26615" y="29559"/>
                      <a:pt x="26736" y="29115"/>
                    </a:cubicBezTo>
                    <a:cubicBezTo>
                      <a:pt x="26736" y="29115"/>
                      <a:pt x="29115" y="21070"/>
                      <a:pt x="29115" y="14840"/>
                    </a:cubicBezTo>
                    <a:cubicBezTo>
                      <a:pt x="29115" y="8590"/>
                      <a:pt x="26756" y="746"/>
                      <a:pt x="26756" y="746"/>
                    </a:cubicBezTo>
                    <a:cubicBezTo>
                      <a:pt x="26615" y="323"/>
                      <a:pt x="26212" y="21"/>
                      <a:pt x="25768" y="0"/>
                    </a:cubicBezTo>
                    <a:lnTo>
                      <a:pt x="24619" y="0"/>
                    </a:lnTo>
                    <a:lnTo>
                      <a:pt x="1" y="29881"/>
                    </a:lnTo>
                    <a:close/>
                  </a:path>
                </a:pathLst>
              </a:custGeom>
              <a:gradFill>
                <a:gsLst>
                  <a:gs pos="0">
                    <a:srgbClr val="00FFFF">
                      <a:alpha val="14902"/>
                      <a:alpha val="7870"/>
                    </a:srgbClr>
                  </a:gs>
                  <a:gs pos="100000">
                    <a:srgbClr val="FFFFFF">
                      <a:alpha val="0"/>
                      <a:alpha val="7870"/>
                    </a:srgbClr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9F86060-E9B7-4600-BA29-558FA1FD49D1}"/>
              </a:ext>
            </a:extLst>
          </p:cNvPr>
          <p:cNvSpPr txBox="1"/>
          <p:nvPr/>
        </p:nvSpPr>
        <p:spPr>
          <a:xfrm>
            <a:off x="929749" y="433574"/>
            <a:ext cx="47864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b="1">
                <a:solidFill>
                  <a:schemeClr val="tx1"/>
                </a:solidFill>
              </a:rPr>
              <a:t>Web Application Firewall (WAF)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fa-IR">
                <a:solidFill>
                  <a:schemeClr val="tx1"/>
                </a:solidFill>
              </a:rPr>
              <a:t> یک لایه امنیتی برای محافظت از برنامه‌های وب است که درخواست‌های </a:t>
            </a:r>
            <a:r>
              <a:rPr lang="en-US">
                <a:solidFill>
                  <a:schemeClr val="tx1"/>
                </a:solidFill>
              </a:rPr>
              <a:t>HTTP</a:t>
            </a:r>
            <a:r>
              <a:rPr lang="fa-IR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fa-IR">
                <a:solidFill>
                  <a:schemeClr val="tx1"/>
                </a:solidFill>
              </a:rPr>
              <a:t>را پیش از رسیدن به برنامه بررسی می‌کند.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C3504-EF9D-4DA4-A051-B8AC12B5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249" y="2672074"/>
            <a:ext cx="510722" cy="5447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78F3FF-F484-4D62-9C22-F95157AE0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249" y="3256376"/>
            <a:ext cx="514505" cy="5334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86FC98-E81C-4C39-98EA-FFC7E2F5D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249" y="3829329"/>
            <a:ext cx="510722" cy="5447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E48512-835F-4672-A229-70A14D91E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357" y="4413631"/>
            <a:ext cx="514505" cy="540987"/>
          </a:xfrm>
          <a:prstGeom prst="rect">
            <a:avLst/>
          </a:prstGeom>
        </p:spPr>
      </p:pic>
      <p:grpSp>
        <p:nvGrpSpPr>
          <p:cNvPr id="26" name="Google Shape;872;p63">
            <a:extLst>
              <a:ext uri="{FF2B5EF4-FFF2-40B4-BE49-F238E27FC236}">
                <a16:creationId xmlns:a16="http://schemas.microsoft.com/office/drawing/2014/main" id="{1571BC42-8767-41F0-822E-0C87E65DCBAB}"/>
              </a:ext>
            </a:extLst>
          </p:cNvPr>
          <p:cNvGrpSpPr/>
          <p:nvPr/>
        </p:nvGrpSpPr>
        <p:grpSpPr>
          <a:xfrm>
            <a:off x="4950723" y="1445279"/>
            <a:ext cx="3263529" cy="1154425"/>
            <a:chOff x="1013241" y="1309528"/>
            <a:chExt cx="6154131" cy="2320755"/>
          </a:xfrm>
        </p:grpSpPr>
        <p:sp>
          <p:nvSpPr>
            <p:cNvPr id="27" name="Google Shape;873;p63">
              <a:extLst>
                <a:ext uri="{FF2B5EF4-FFF2-40B4-BE49-F238E27FC236}">
                  <a16:creationId xmlns:a16="http://schemas.microsoft.com/office/drawing/2014/main" id="{93797958-435D-48DA-A6E6-62E039BAD561}"/>
                </a:ext>
              </a:extLst>
            </p:cNvPr>
            <p:cNvSpPr/>
            <p:nvPr/>
          </p:nvSpPr>
          <p:spPr>
            <a:xfrm>
              <a:off x="1013241" y="1309528"/>
              <a:ext cx="6154112" cy="2320755"/>
            </a:xfrm>
            <a:custGeom>
              <a:avLst/>
              <a:gdLst/>
              <a:ahLst/>
              <a:cxnLst/>
              <a:rect l="l" t="t" r="r" b="b"/>
              <a:pathLst>
                <a:path w="64804" h="24438" extrusionOk="0">
                  <a:moveTo>
                    <a:pt x="57585" y="8005"/>
                  </a:moveTo>
                  <a:cubicBezTo>
                    <a:pt x="57101" y="7985"/>
                    <a:pt x="56638" y="7864"/>
                    <a:pt x="56214" y="7642"/>
                  </a:cubicBezTo>
                  <a:cubicBezTo>
                    <a:pt x="56214" y="7642"/>
                    <a:pt x="47040" y="202"/>
                    <a:pt x="32039" y="101"/>
                  </a:cubicBezTo>
                  <a:cubicBezTo>
                    <a:pt x="18187" y="0"/>
                    <a:pt x="8247" y="7642"/>
                    <a:pt x="8247" y="7642"/>
                  </a:cubicBezTo>
                  <a:cubicBezTo>
                    <a:pt x="7824" y="7864"/>
                    <a:pt x="7340" y="7985"/>
                    <a:pt x="6856" y="8005"/>
                  </a:cubicBezTo>
                  <a:lnTo>
                    <a:pt x="767" y="8005"/>
                  </a:lnTo>
                  <a:cubicBezTo>
                    <a:pt x="344" y="8005"/>
                    <a:pt x="1" y="8348"/>
                    <a:pt x="1" y="8771"/>
                  </a:cubicBezTo>
                  <a:lnTo>
                    <a:pt x="1" y="23671"/>
                  </a:lnTo>
                  <a:cubicBezTo>
                    <a:pt x="1" y="24095"/>
                    <a:pt x="344" y="24437"/>
                    <a:pt x="767" y="24437"/>
                  </a:cubicBezTo>
                  <a:lnTo>
                    <a:pt x="64057" y="24437"/>
                  </a:lnTo>
                  <a:cubicBezTo>
                    <a:pt x="64481" y="24417"/>
                    <a:pt x="64803" y="24095"/>
                    <a:pt x="64803" y="23671"/>
                  </a:cubicBezTo>
                  <a:lnTo>
                    <a:pt x="64803" y="8751"/>
                  </a:lnTo>
                  <a:cubicBezTo>
                    <a:pt x="64803" y="8348"/>
                    <a:pt x="64481" y="8005"/>
                    <a:pt x="64057" y="8005"/>
                  </a:cubicBezTo>
                  <a:close/>
                </a:path>
              </a:pathLst>
            </a:custGeom>
            <a:gradFill>
              <a:gsLst>
                <a:gs pos="0">
                  <a:srgbClr val="0A3250">
                    <a:alpha val="7870"/>
                  </a:srgbClr>
                </a:gs>
                <a:gs pos="100000">
                  <a:srgbClr val="010101">
                    <a:alpha val="7870"/>
                  </a:srgbClr>
                </a:gs>
              </a:gsLst>
              <a:lin ang="5400700" scaled="0"/>
            </a:gra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algn="bl" rotWithShape="0">
                <a:srgbClr val="7EFFFF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Google Shape;874;p63">
              <a:extLst>
                <a:ext uri="{FF2B5EF4-FFF2-40B4-BE49-F238E27FC236}">
                  <a16:creationId xmlns:a16="http://schemas.microsoft.com/office/drawing/2014/main" id="{9FDE1FDA-D123-4686-A5EE-DCA206577966}"/>
                </a:ext>
              </a:extLst>
            </p:cNvPr>
            <p:cNvSpPr/>
            <p:nvPr/>
          </p:nvSpPr>
          <p:spPr>
            <a:xfrm>
              <a:off x="1013241" y="1456914"/>
              <a:ext cx="2016392" cy="2171470"/>
            </a:xfrm>
            <a:custGeom>
              <a:avLst/>
              <a:gdLst/>
              <a:ahLst/>
              <a:cxnLst/>
              <a:rect l="l" t="t" r="r" b="b"/>
              <a:pathLst>
                <a:path w="21233" h="22866" extrusionOk="0">
                  <a:moveTo>
                    <a:pt x="8247" y="6070"/>
                  </a:moveTo>
                  <a:cubicBezTo>
                    <a:pt x="7824" y="6291"/>
                    <a:pt x="7340" y="6433"/>
                    <a:pt x="6856" y="6453"/>
                  </a:cubicBezTo>
                  <a:lnTo>
                    <a:pt x="767" y="6453"/>
                  </a:lnTo>
                  <a:cubicBezTo>
                    <a:pt x="344" y="6453"/>
                    <a:pt x="1" y="6775"/>
                    <a:pt x="1" y="7199"/>
                  </a:cubicBezTo>
                  <a:lnTo>
                    <a:pt x="1" y="22119"/>
                  </a:lnTo>
                  <a:cubicBezTo>
                    <a:pt x="1" y="22522"/>
                    <a:pt x="344" y="22865"/>
                    <a:pt x="767" y="22865"/>
                  </a:cubicBezTo>
                  <a:lnTo>
                    <a:pt x="1513" y="22865"/>
                  </a:lnTo>
                  <a:lnTo>
                    <a:pt x="21232" y="1"/>
                  </a:lnTo>
                  <a:cubicBezTo>
                    <a:pt x="13308" y="2198"/>
                    <a:pt x="8247" y="6070"/>
                    <a:pt x="8247" y="6070"/>
                  </a:cubicBezTo>
                  <a:close/>
                </a:path>
              </a:pathLst>
            </a:custGeom>
            <a:gradFill>
              <a:gsLst>
                <a:gs pos="0">
                  <a:srgbClr val="00FFFF">
                    <a:alpha val="14902"/>
                    <a:alpha val="10590"/>
                  </a:srgbClr>
                </a:gs>
                <a:gs pos="100000">
                  <a:srgbClr val="FFFFFF">
                    <a:alpha val="0"/>
                    <a:alpha val="10590"/>
                  </a:srgbClr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Google Shape;875;p63">
              <a:extLst>
                <a:ext uri="{FF2B5EF4-FFF2-40B4-BE49-F238E27FC236}">
                  <a16:creationId xmlns:a16="http://schemas.microsoft.com/office/drawing/2014/main" id="{C7BB9B8F-9849-41C7-A847-1C617CAE9E7B}"/>
                </a:ext>
              </a:extLst>
            </p:cNvPr>
            <p:cNvSpPr/>
            <p:nvPr/>
          </p:nvSpPr>
          <p:spPr>
            <a:xfrm>
              <a:off x="4490498" y="1801543"/>
              <a:ext cx="2676873" cy="1826842"/>
            </a:xfrm>
            <a:custGeom>
              <a:avLst/>
              <a:gdLst/>
              <a:ahLst/>
              <a:cxnLst/>
              <a:rect l="l" t="t" r="r" b="b"/>
              <a:pathLst>
                <a:path w="28188" h="19237" extrusionOk="0">
                  <a:moveTo>
                    <a:pt x="27441" y="19236"/>
                  </a:moveTo>
                  <a:cubicBezTo>
                    <a:pt x="27865" y="19236"/>
                    <a:pt x="28187" y="18893"/>
                    <a:pt x="28187" y="18470"/>
                  </a:cubicBezTo>
                  <a:lnTo>
                    <a:pt x="28187" y="3570"/>
                  </a:lnTo>
                  <a:cubicBezTo>
                    <a:pt x="28187" y="3167"/>
                    <a:pt x="27865" y="2824"/>
                    <a:pt x="27441" y="2824"/>
                  </a:cubicBezTo>
                  <a:lnTo>
                    <a:pt x="20969" y="2824"/>
                  </a:lnTo>
                  <a:cubicBezTo>
                    <a:pt x="20485" y="2804"/>
                    <a:pt x="20022" y="2683"/>
                    <a:pt x="19598" y="2461"/>
                  </a:cubicBezTo>
                  <a:cubicBezTo>
                    <a:pt x="18368" y="1533"/>
                    <a:pt x="17098" y="707"/>
                    <a:pt x="15747" y="1"/>
                  </a:cubicBezTo>
                  <a:lnTo>
                    <a:pt x="0" y="19236"/>
                  </a:lnTo>
                  <a:close/>
                </a:path>
              </a:pathLst>
            </a:custGeom>
            <a:gradFill>
              <a:gsLst>
                <a:gs pos="0">
                  <a:srgbClr val="00FFFF">
                    <a:alpha val="14902"/>
                    <a:alpha val="7870"/>
                  </a:srgbClr>
                </a:gs>
                <a:gs pos="100000">
                  <a:srgbClr val="FFFFFF">
                    <a:alpha val="0"/>
                    <a:alpha val="7870"/>
                  </a:srgbClr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Google Shape;3601;p45">
            <a:extLst>
              <a:ext uri="{FF2B5EF4-FFF2-40B4-BE49-F238E27FC236}">
                <a16:creationId xmlns:a16="http://schemas.microsoft.com/office/drawing/2014/main" id="{47C2A195-685B-4EF9-BD87-FEBF4FAE0AC8}"/>
              </a:ext>
            </a:extLst>
          </p:cNvPr>
          <p:cNvSpPr txBox="1">
            <a:spLocks/>
          </p:cNvSpPr>
          <p:nvPr/>
        </p:nvSpPr>
        <p:spPr>
          <a:xfrm>
            <a:off x="5252935" y="1832909"/>
            <a:ext cx="2611064" cy="70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pPr rtl="1"/>
            <a:r>
              <a:rPr lang="en-US" sz="3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endParaRPr lang="fa-IR" sz="3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9" name="Google Shape;3603;p45">
            <a:extLst>
              <a:ext uri="{FF2B5EF4-FFF2-40B4-BE49-F238E27FC236}">
                <a16:creationId xmlns:a16="http://schemas.microsoft.com/office/drawing/2014/main" id="{19DE79E1-F1AB-4D22-B853-2E13E8BFC7EE}"/>
              </a:ext>
            </a:extLst>
          </p:cNvPr>
          <p:cNvSpPr txBox="1">
            <a:spLocks/>
          </p:cNvSpPr>
          <p:nvPr/>
        </p:nvSpPr>
        <p:spPr>
          <a:xfrm>
            <a:off x="5716241" y="3351088"/>
            <a:ext cx="2191123" cy="34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فعالیت 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Application Layer / Layer 7</a:t>
            </a:r>
          </a:p>
        </p:txBody>
      </p:sp>
      <p:sp>
        <p:nvSpPr>
          <p:cNvPr id="40" name="Google Shape;3603;p45">
            <a:extLst>
              <a:ext uri="{FF2B5EF4-FFF2-40B4-BE49-F238E27FC236}">
                <a16:creationId xmlns:a16="http://schemas.microsoft.com/office/drawing/2014/main" id="{7B478486-4ED6-458E-BFFF-16EEC8FE5EB3}"/>
              </a:ext>
            </a:extLst>
          </p:cNvPr>
          <p:cNvSpPr txBox="1">
            <a:spLocks/>
          </p:cNvSpPr>
          <p:nvPr/>
        </p:nvSpPr>
        <p:spPr>
          <a:xfrm>
            <a:off x="5563992" y="2774967"/>
            <a:ext cx="2343373" cy="34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بررسی محتوای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HTTP Request</a:t>
            </a:r>
          </a:p>
        </p:txBody>
      </p:sp>
      <p:sp>
        <p:nvSpPr>
          <p:cNvPr id="41" name="Google Shape;3603;p45">
            <a:extLst>
              <a:ext uri="{FF2B5EF4-FFF2-40B4-BE49-F238E27FC236}">
                <a16:creationId xmlns:a16="http://schemas.microsoft.com/office/drawing/2014/main" id="{A4B6D456-644A-40AB-852E-B8E5EEEFAD24}"/>
              </a:ext>
            </a:extLst>
          </p:cNvPr>
          <p:cNvSpPr txBox="1">
            <a:spLocks/>
          </p:cNvSpPr>
          <p:nvPr/>
        </p:nvSpPr>
        <p:spPr>
          <a:xfrm>
            <a:off x="5563990" y="4509619"/>
            <a:ext cx="2343373" cy="34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قابلیت شناسایی الگوهای حملاتی مانند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</a:p>
        </p:txBody>
      </p:sp>
      <p:sp>
        <p:nvSpPr>
          <p:cNvPr id="57" name="Google Shape;3603;p45">
            <a:extLst>
              <a:ext uri="{FF2B5EF4-FFF2-40B4-BE49-F238E27FC236}">
                <a16:creationId xmlns:a16="http://schemas.microsoft.com/office/drawing/2014/main" id="{B45B9297-C9F1-467D-B827-E2965C06DDB5}"/>
              </a:ext>
            </a:extLst>
          </p:cNvPr>
          <p:cNvSpPr txBox="1">
            <a:spLocks/>
          </p:cNvSpPr>
          <p:nvPr/>
        </p:nvSpPr>
        <p:spPr>
          <a:xfrm>
            <a:off x="1585491" y="3926264"/>
            <a:ext cx="2343373" cy="34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تصمیم‌گیری بر اساس اطلاعات ارتباط شبکه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FDD5A14-030B-4AFD-A81B-EF9E0E42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49" y="2671129"/>
            <a:ext cx="510722" cy="54477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CF8583A-117D-47AB-A63B-D665AD2C6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49" y="3255431"/>
            <a:ext cx="514505" cy="53342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45D67AD-039B-4775-8976-C7285A1FD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49" y="3828384"/>
            <a:ext cx="510722" cy="544770"/>
          </a:xfrm>
          <a:prstGeom prst="rect">
            <a:avLst/>
          </a:prstGeom>
        </p:spPr>
      </p:pic>
      <p:grpSp>
        <p:nvGrpSpPr>
          <p:cNvPr id="62" name="Google Shape;872;p63">
            <a:extLst>
              <a:ext uri="{FF2B5EF4-FFF2-40B4-BE49-F238E27FC236}">
                <a16:creationId xmlns:a16="http://schemas.microsoft.com/office/drawing/2014/main" id="{C0F986AC-D369-40F0-A233-B0F5D84C6CDC}"/>
              </a:ext>
            </a:extLst>
          </p:cNvPr>
          <p:cNvGrpSpPr/>
          <p:nvPr/>
        </p:nvGrpSpPr>
        <p:grpSpPr>
          <a:xfrm>
            <a:off x="972223" y="1444334"/>
            <a:ext cx="3263529" cy="1154425"/>
            <a:chOff x="1013241" y="1309528"/>
            <a:chExt cx="6154131" cy="2320755"/>
          </a:xfrm>
        </p:grpSpPr>
        <p:sp>
          <p:nvSpPr>
            <p:cNvPr id="63" name="Google Shape;873;p63">
              <a:extLst>
                <a:ext uri="{FF2B5EF4-FFF2-40B4-BE49-F238E27FC236}">
                  <a16:creationId xmlns:a16="http://schemas.microsoft.com/office/drawing/2014/main" id="{C939361D-857B-499E-A823-6E30FB44194D}"/>
                </a:ext>
              </a:extLst>
            </p:cNvPr>
            <p:cNvSpPr/>
            <p:nvPr/>
          </p:nvSpPr>
          <p:spPr>
            <a:xfrm>
              <a:off x="1013241" y="1309528"/>
              <a:ext cx="6154112" cy="2320755"/>
            </a:xfrm>
            <a:custGeom>
              <a:avLst/>
              <a:gdLst/>
              <a:ahLst/>
              <a:cxnLst/>
              <a:rect l="l" t="t" r="r" b="b"/>
              <a:pathLst>
                <a:path w="64804" h="24438" extrusionOk="0">
                  <a:moveTo>
                    <a:pt x="57585" y="8005"/>
                  </a:moveTo>
                  <a:cubicBezTo>
                    <a:pt x="57101" y="7985"/>
                    <a:pt x="56638" y="7864"/>
                    <a:pt x="56214" y="7642"/>
                  </a:cubicBezTo>
                  <a:cubicBezTo>
                    <a:pt x="56214" y="7642"/>
                    <a:pt x="47040" y="202"/>
                    <a:pt x="32039" y="101"/>
                  </a:cubicBezTo>
                  <a:cubicBezTo>
                    <a:pt x="18187" y="0"/>
                    <a:pt x="8247" y="7642"/>
                    <a:pt x="8247" y="7642"/>
                  </a:cubicBezTo>
                  <a:cubicBezTo>
                    <a:pt x="7824" y="7864"/>
                    <a:pt x="7340" y="7985"/>
                    <a:pt x="6856" y="8005"/>
                  </a:cubicBezTo>
                  <a:lnTo>
                    <a:pt x="767" y="8005"/>
                  </a:lnTo>
                  <a:cubicBezTo>
                    <a:pt x="344" y="8005"/>
                    <a:pt x="1" y="8348"/>
                    <a:pt x="1" y="8771"/>
                  </a:cubicBezTo>
                  <a:lnTo>
                    <a:pt x="1" y="23671"/>
                  </a:lnTo>
                  <a:cubicBezTo>
                    <a:pt x="1" y="24095"/>
                    <a:pt x="344" y="24437"/>
                    <a:pt x="767" y="24437"/>
                  </a:cubicBezTo>
                  <a:lnTo>
                    <a:pt x="64057" y="24437"/>
                  </a:lnTo>
                  <a:cubicBezTo>
                    <a:pt x="64481" y="24417"/>
                    <a:pt x="64803" y="24095"/>
                    <a:pt x="64803" y="23671"/>
                  </a:cubicBezTo>
                  <a:lnTo>
                    <a:pt x="64803" y="8751"/>
                  </a:lnTo>
                  <a:cubicBezTo>
                    <a:pt x="64803" y="8348"/>
                    <a:pt x="64481" y="8005"/>
                    <a:pt x="64057" y="8005"/>
                  </a:cubicBezTo>
                  <a:close/>
                </a:path>
              </a:pathLst>
            </a:custGeom>
            <a:gradFill>
              <a:gsLst>
                <a:gs pos="0">
                  <a:srgbClr val="0A3250">
                    <a:alpha val="7870"/>
                  </a:srgbClr>
                </a:gs>
                <a:gs pos="100000">
                  <a:srgbClr val="010101">
                    <a:alpha val="7870"/>
                  </a:srgbClr>
                </a:gs>
              </a:gsLst>
              <a:lin ang="5400700" scaled="0"/>
            </a:gra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algn="bl" rotWithShape="0">
                <a:srgbClr val="7EFFFF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Google Shape;874;p63">
              <a:extLst>
                <a:ext uri="{FF2B5EF4-FFF2-40B4-BE49-F238E27FC236}">
                  <a16:creationId xmlns:a16="http://schemas.microsoft.com/office/drawing/2014/main" id="{FF95C832-FC76-49A9-9F7B-CCD5D8AEB912}"/>
                </a:ext>
              </a:extLst>
            </p:cNvPr>
            <p:cNvSpPr/>
            <p:nvPr/>
          </p:nvSpPr>
          <p:spPr>
            <a:xfrm>
              <a:off x="1013241" y="1456914"/>
              <a:ext cx="2016392" cy="2171470"/>
            </a:xfrm>
            <a:custGeom>
              <a:avLst/>
              <a:gdLst/>
              <a:ahLst/>
              <a:cxnLst/>
              <a:rect l="l" t="t" r="r" b="b"/>
              <a:pathLst>
                <a:path w="21233" h="22866" extrusionOk="0">
                  <a:moveTo>
                    <a:pt x="8247" y="6070"/>
                  </a:moveTo>
                  <a:cubicBezTo>
                    <a:pt x="7824" y="6291"/>
                    <a:pt x="7340" y="6433"/>
                    <a:pt x="6856" y="6453"/>
                  </a:cubicBezTo>
                  <a:lnTo>
                    <a:pt x="767" y="6453"/>
                  </a:lnTo>
                  <a:cubicBezTo>
                    <a:pt x="344" y="6453"/>
                    <a:pt x="1" y="6775"/>
                    <a:pt x="1" y="7199"/>
                  </a:cubicBezTo>
                  <a:lnTo>
                    <a:pt x="1" y="22119"/>
                  </a:lnTo>
                  <a:cubicBezTo>
                    <a:pt x="1" y="22522"/>
                    <a:pt x="344" y="22865"/>
                    <a:pt x="767" y="22865"/>
                  </a:cubicBezTo>
                  <a:lnTo>
                    <a:pt x="1513" y="22865"/>
                  </a:lnTo>
                  <a:lnTo>
                    <a:pt x="21232" y="1"/>
                  </a:lnTo>
                  <a:cubicBezTo>
                    <a:pt x="13308" y="2198"/>
                    <a:pt x="8247" y="6070"/>
                    <a:pt x="8247" y="6070"/>
                  </a:cubicBezTo>
                  <a:close/>
                </a:path>
              </a:pathLst>
            </a:custGeom>
            <a:gradFill>
              <a:gsLst>
                <a:gs pos="0">
                  <a:srgbClr val="00FFFF">
                    <a:alpha val="14902"/>
                    <a:alpha val="10590"/>
                  </a:srgbClr>
                </a:gs>
                <a:gs pos="100000">
                  <a:srgbClr val="FFFFFF">
                    <a:alpha val="0"/>
                    <a:alpha val="10590"/>
                  </a:srgbClr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Google Shape;875;p63">
              <a:extLst>
                <a:ext uri="{FF2B5EF4-FFF2-40B4-BE49-F238E27FC236}">
                  <a16:creationId xmlns:a16="http://schemas.microsoft.com/office/drawing/2014/main" id="{112F13E9-BE4F-4285-8C5C-9340F99E3BA9}"/>
                </a:ext>
              </a:extLst>
            </p:cNvPr>
            <p:cNvSpPr/>
            <p:nvPr/>
          </p:nvSpPr>
          <p:spPr>
            <a:xfrm>
              <a:off x="4490498" y="1801543"/>
              <a:ext cx="2676873" cy="1826842"/>
            </a:xfrm>
            <a:custGeom>
              <a:avLst/>
              <a:gdLst/>
              <a:ahLst/>
              <a:cxnLst/>
              <a:rect l="l" t="t" r="r" b="b"/>
              <a:pathLst>
                <a:path w="28188" h="19237" extrusionOk="0">
                  <a:moveTo>
                    <a:pt x="27441" y="19236"/>
                  </a:moveTo>
                  <a:cubicBezTo>
                    <a:pt x="27865" y="19236"/>
                    <a:pt x="28187" y="18893"/>
                    <a:pt x="28187" y="18470"/>
                  </a:cubicBezTo>
                  <a:lnTo>
                    <a:pt x="28187" y="3570"/>
                  </a:lnTo>
                  <a:cubicBezTo>
                    <a:pt x="28187" y="3167"/>
                    <a:pt x="27865" y="2824"/>
                    <a:pt x="27441" y="2824"/>
                  </a:cubicBezTo>
                  <a:lnTo>
                    <a:pt x="20969" y="2824"/>
                  </a:lnTo>
                  <a:cubicBezTo>
                    <a:pt x="20485" y="2804"/>
                    <a:pt x="20022" y="2683"/>
                    <a:pt x="19598" y="2461"/>
                  </a:cubicBezTo>
                  <a:cubicBezTo>
                    <a:pt x="18368" y="1533"/>
                    <a:pt x="17098" y="707"/>
                    <a:pt x="15747" y="1"/>
                  </a:cubicBezTo>
                  <a:lnTo>
                    <a:pt x="0" y="19236"/>
                  </a:lnTo>
                  <a:close/>
                </a:path>
              </a:pathLst>
            </a:custGeom>
            <a:gradFill>
              <a:gsLst>
                <a:gs pos="0">
                  <a:srgbClr val="00FFFF">
                    <a:alpha val="14902"/>
                    <a:alpha val="7870"/>
                  </a:srgbClr>
                </a:gs>
                <a:gs pos="100000">
                  <a:srgbClr val="FFFFFF">
                    <a:alpha val="0"/>
                    <a:alpha val="7870"/>
                  </a:srgbClr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6" name="Google Shape;3601;p45">
            <a:extLst>
              <a:ext uri="{FF2B5EF4-FFF2-40B4-BE49-F238E27FC236}">
                <a16:creationId xmlns:a16="http://schemas.microsoft.com/office/drawing/2014/main" id="{5D5D64E3-27CE-4EE3-AFF6-2D306186FB93}"/>
              </a:ext>
            </a:extLst>
          </p:cNvPr>
          <p:cNvSpPr txBox="1">
            <a:spLocks/>
          </p:cNvSpPr>
          <p:nvPr/>
        </p:nvSpPr>
        <p:spPr>
          <a:xfrm>
            <a:off x="1274435" y="1831964"/>
            <a:ext cx="2611064" cy="70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pPr rtl="1"/>
            <a:r>
              <a:rPr lang="fa-IR" sz="3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3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Firewall</a:t>
            </a:r>
            <a:r>
              <a:rPr lang="fa-IR" sz="3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سنتی</a:t>
            </a:r>
          </a:p>
        </p:txBody>
      </p:sp>
      <p:sp>
        <p:nvSpPr>
          <p:cNvPr id="67" name="Google Shape;3603;p45">
            <a:extLst>
              <a:ext uri="{FF2B5EF4-FFF2-40B4-BE49-F238E27FC236}">
                <a16:creationId xmlns:a16="http://schemas.microsoft.com/office/drawing/2014/main" id="{063BD829-C177-4EAF-9F28-4D6E51DE9622}"/>
              </a:ext>
            </a:extLst>
          </p:cNvPr>
          <p:cNvSpPr txBox="1">
            <a:spLocks/>
          </p:cNvSpPr>
          <p:nvPr/>
        </p:nvSpPr>
        <p:spPr>
          <a:xfrm>
            <a:off x="1585491" y="3350143"/>
            <a:ext cx="2343373" cy="34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فعالیت عمدتاً در لایه‌های شبکه و انتقال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68" name="Google Shape;3603;p45">
            <a:extLst>
              <a:ext uri="{FF2B5EF4-FFF2-40B4-BE49-F238E27FC236}">
                <a16:creationId xmlns:a16="http://schemas.microsoft.com/office/drawing/2014/main" id="{EC5375C2-678F-42B9-8B8F-C48DD417FB7B}"/>
              </a:ext>
            </a:extLst>
          </p:cNvPr>
          <p:cNvSpPr txBox="1">
            <a:spLocks/>
          </p:cNvSpPr>
          <p:nvPr/>
        </p:nvSpPr>
        <p:spPr>
          <a:xfrm>
            <a:off x="1585492" y="2774022"/>
            <a:ext cx="2343373" cy="34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تمرکز عمده بر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IP، Port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Protocol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4" name="Google Shape;3304;p42"/>
          <p:cNvGrpSpPr/>
          <p:nvPr/>
        </p:nvGrpSpPr>
        <p:grpSpPr>
          <a:xfrm>
            <a:off x="4994880" y="813716"/>
            <a:ext cx="2227589" cy="1527191"/>
            <a:chOff x="5519300" y="372750"/>
            <a:chExt cx="1039375" cy="712575"/>
          </a:xfrm>
        </p:grpSpPr>
        <p:sp>
          <p:nvSpPr>
            <p:cNvPr id="3305" name="Google Shape;3305;p4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4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4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4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4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4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4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4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4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4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4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4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4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4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4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4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4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2" name="Google Shape;3372;p42"/>
          <p:cNvGrpSpPr/>
          <p:nvPr/>
        </p:nvGrpSpPr>
        <p:grpSpPr>
          <a:xfrm>
            <a:off x="1705329" y="1054278"/>
            <a:ext cx="2227588" cy="726522"/>
            <a:chOff x="3620725" y="372750"/>
            <a:chExt cx="1039375" cy="338989"/>
          </a:xfrm>
        </p:grpSpPr>
        <p:sp>
          <p:nvSpPr>
            <p:cNvPr id="3373" name="Google Shape;3373;p42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2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2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2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2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2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2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2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2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2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2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2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42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42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42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42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42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42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42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42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42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42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42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42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42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42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42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42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42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42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42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42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42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42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42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2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2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10" name="Google Shape;34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024" y="539375"/>
            <a:ext cx="1795352" cy="12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1" name="Google Shape;3411;p42"/>
          <p:cNvSpPr txBox="1">
            <a:spLocks noGrp="1"/>
          </p:cNvSpPr>
          <p:nvPr>
            <p:ph type="title"/>
          </p:nvPr>
        </p:nvSpPr>
        <p:spPr>
          <a:xfrm>
            <a:off x="1945517" y="2402353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چیست؟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412" name="Google Shape;3412;p42"/>
          <p:cNvSpPr txBox="1">
            <a:spLocks noGrp="1"/>
          </p:cNvSpPr>
          <p:nvPr>
            <p:ph type="subTitle" idx="1"/>
          </p:nvPr>
        </p:nvSpPr>
        <p:spPr>
          <a:xfrm>
            <a:off x="1468116" y="3174674"/>
            <a:ext cx="6264367" cy="1670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بخش داده‌ای درخواست است که می‌تواند شامل ورودی کاربر و محتوای مورد بررسی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Detector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باشد.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پروژه،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از بخش‌های مختلف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استخراج و برای تشخیص به موتور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داده می‌شود.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3413" name="Google Shape;341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937" y="390740"/>
            <a:ext cx="1235425" cy="1955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4" name="Google Shape;3414;p42"/>
          <p:cNvGrpSpPr/>
          <p:nvPr/>
        </p:nvGrpSpPr>
        <p:grpSpPr>
          <a:xfrm>
            <a:off x="-759472" y="3311203"/>
            <a:ext cx="2227588" cy="726522"/>
            <a:chOff x="3857800" y="1143286"/>
            <a:chExt cx="1039375" cy="338989"/>
          </a:xfrm>
        </p:grpSpPr>
        <p:sp>
          <p:nvSpPr>
            <p:cNvPr id="3415" name="Google Shape;3415;p42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42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42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42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42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42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2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2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42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42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42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42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42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42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42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42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42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42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42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42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42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42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42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42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42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42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42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42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2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2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5" name="Google Shape;3445;p42"/>
          <p:cNvGrpSpPr/>
          <p:nvPr/>
        </p:nvGrpSpPr>
        <p:grpSpPr>
          <a:xfrm>
            <a:off x="2978333" y="5720819"/>
            <a:ext cx="2227588" cy="726522"/>
            <a:chOff x="3799000" y="1820400"/>
            <a:chExt cx="1039375" cy="338989"/>
          </a:xfrm>
        </p:grpSpPr>
        <p:sp>
          <p:nvSpPr>
            <p:cNvPr id="3446" name="Google Shape;3446;p4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4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4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4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4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4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4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4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4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4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4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4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4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4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4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4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4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4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4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42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4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4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4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82" name="Google Shape;34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211" y="1578450"/>
            <a:ext cx="951175" cy="68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3" name="Google Shape;3483;p42"/>
          <p:cNvGrpSpPr/>
          <p:nvPr/>
        </p:nvGrpSpPr>
        <p:grpSpPr>
          <a:xfrm>
            <a:off x="7732483" y="2542730"/>
            <a:ext cx="2227588" cy="726522"/>
            <a:chOff x="5608450" y="1680311"/>
            <a:chExt cx="1039375" cy="338989"/>
          </a:xfrm>
        </p:grpSpPr>
        <p:sp>
          <p:nvSpPr>
            <p:cNvPr id="3484" name="Google Shape;3484;p4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4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4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4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4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4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4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4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4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4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4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4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4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4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4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4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4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4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4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4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4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4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4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4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4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4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4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4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4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4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4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4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4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4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4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49"/>
          <p:cNvSpPr txBox="1">
            <a:spLocks noGrp="1"/>
          </p:cNvSpPr>
          <p:nvPr>
            <p:ph type="title"/>
          </p:nvPr>
        </p:nvSpPr>
        <p:spPr>
          <a:xfrm>
            <a:off x="713250" y="128008"/>
            <a:ext cx="7717500" cy="879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هدف و محدوده پروژه</a:t>
            </a:r>
            <a:b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</a:b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هدف پروژه، طراحی و پیاده‌سازی یک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کاربردی و آزمایشگاهی است که بتواند درخواست‌های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HTTP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را قبل از رسیدن به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دریافت، تحلیل و درباره آن‌ها تصمیم‌گیری کند.</a:t>
            </a:r>
            <a:endParaRPr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832" name="Google Shape;3832;p49"/>
          <p:cNvSpPr txBox="1">
            <a:spLocks noGrp="1"/>
          </p:cNvSpPr>
          <p:nvPr>
            <p:ph type="subTitle" idx="8"/>
          </p:nvPr>
        </p:nvSpPr>
        <p:spPr>
          <a:xfrm>
            <a:off x="1039675" y="1613236"/>
            <a:ext cx="1801200" cy="8212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قرارگیری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به‌صورت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Reverse Proxy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جلوی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837" name="Google Shape;3837;p49"/>
          <p:cNvSpPr/>
          <p:nvPr/>
        </p:nvSpPr>
        <p:spPr>
          <a:xfrm>
            <a:off x="4782134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8" name="Google Shape;3838;p49"/>
          <p:cNvSpPr/>
          <p:nvPr/>
        </p:nvSpPr>
        <p:spPr>
          <a:xfrm>
            <a:off x="4967932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9" name="Google Shape;3839;p49"/>
          <p:cNvSpPr/>
          <p:nvPr/>
        </p:nvSpPr>
        <p:spPr>
          <a:xfrm>
            <a:off x="4596337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0" name="Google Shape;3840;p49"/>
          <p:cNvSpPr/>
          <p:nvPr/>
        </p:nvSpPr>
        <p:spPr>
          <a:xfrm>
            <a:off x="4224741" y="1259877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1" name="Google Shape;3841;p49"/>
          <p:cNvSpPr/>
          <p:nvPr/>
        </p:nvSpPr>
        <p:spPr>
          <a:xfrm>
            <a:off x="4410539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2" name="Google Shape;3842;p49"/>
          <p:cNvSpPr/>
          <p:nvPr/>
        </p:nvSpPr>
        <p:spPr>
          <a:xfrm>
            <a:off x="4038943" y="1259877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3" name="Google Shape;3843;p49"/>
          <p:cNvSpPr/>
          <p:nvPr/>
        </p:nvSpPr>
        <p:spPr>
          <a:xfrm>
            <a:off x="7438122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4" name="Google Shape;3844;p49"/>
          <p:cNvSpPr/>
          <p:nvPr/>
        </p:nvSpPr>
        <p:spPr>
          <a:xfrm>
            <a:off x="7623919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5" name="Google Shape;3845;p49"/>
          <p:cNvSpPr/>
          <p:nvPr/>
        </p:nvSpPr>
        <p:spPr>
          <a:xfrm>
            <a:off x="7252324" y="1259877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6" name="Google Shape;3846;p49"/>
          <p:cNvSpPr/>
          <p:nvPr/>
        </p:nvSpPr>
        <p:spPr>
          <a:xfrm>
            <a:off x="6880728" y="1259877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7" name="Google Shape;3847;p49"/>
          <p:cNvSpPr/>
          <p:nvPr/>
        </p:nvSpPr>
        <p:spPr>
          <a:xfrm>
            <a:off x="7066526" y="1259877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8" name="Google Shape;3848;p49"/>
          <p:cNvSpPr/>
          <p:nvPr/>
        </p:nvSpPr>
        <p:spPr>
          <a:xfrm>
            <a:off x="6694931" y="1259877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9" name="Google Shape;3849;p49"/>
          <p:cNvSpPr/>
          <p:nvPr/>
        </p:nvSpPr>
        <p:spPr>
          <a:xfrm>
            <a:off x="2126760" y="1283955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0" name="Google Shape;3850;p49"/>
          <p:cNvSpPr/>
          <p:nvPr/>
        </p:nvSpPr>
        <p:spPr>
          <a:xfrm>
            <a:off x="2313246" y="1283955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1" name="Google Shape;3851;p49"/>
          <p:cNvSpPr/>
          <p:nvPr/>
        </p:nvSpPr>
        <p:spPr>
          <a:xfrm>
            <a:off x="1940275" y="1283955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2" name="Google Shape;3852;p49"/>
          <p:cNvSpPr/>
          <p:nvPr/>
        </p:nvSpPr>
        <p:spPr>
          <a:xfrm>
            <a:off x="1567304" y="1283955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3" name="Google Shape;3853;p49"/>
          <p:cNvSpPr/>
          <p:nvPr/>
        </p:nvSpPr>
        <p:spPr>
          <a:xfrm>
            <a:off x="1753789" y="1283955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4" name="Google Shape;3854;p49"/>
          <p:cNvSpPr/>
          <p:nvPr/>
        </p:nvSpPr>
        <p:spPr>
          <a:xfrm>
            <a:off x="1380818" y="1283955"/>
            <a:ext cx="122989" cy="12300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5" name="Google Shape;3855;p49"/>
          <p:cNvSpPr/>
          <p:nvPr/>
        </p:nvSpPr>
        <p:spPr>
          <a:xfrm>
            <a:off x="2127902" y="2833514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6" name="Google Shape;3856;p49"/>
          <p:cNvSpPr/>
          <p:nvPr/>
        </p:nvSpPr>
        <p:spPr>
          <a:xfrm>
            <a:off x="2313699" y="2833514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7" name="Google Shape;3857;p49"/>
          <p:cNvSpPr/>
          <p:nvPr/>
        </p:nvSpPr>
        <p:spPr>
          <a:xfrm>
            <a:off x="1942104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8" name="Google Shape;3858;p49"/>
          <p:cNvSpPr/>
          <p:nvPr/>
        </p:nvSpPr>
        <p:spPr>
          <a:xfrm>
            <a:off x="1570508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9" name="Google Shape;3859;p49"/>
          <p:cNvSpPr/>
          <p:nvPr/>
        </p:nvSpPr>
        <p:spPr>
          <a:xfrm>
            <a:off x="1756306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0" name="Google Shape;3860;p49"/>
          <p:cNvSpPr/>
          <p:nvPr/>
        </p:nvSpPr>
        <p:spPr>
          <a:xfrm>
            <a:off x="1384711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1" name="Google Shape;3861;p49"/>
          <p:cNvSpPr/>
          <p:nvPr/>
        </p:nvSpPr>
        <p:spPr>
          <a:xfrm>
            <a:off x="7438122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2" name="Google Shape;3862;p49"/>
          <p:cNvSpPr/>
          <p:nvPr/>
        </p:nvSpPr>
        <p:spPr>
          <a:xfrm>
            <a:off x="7623919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3" name="Google Shape;3863;p49"/>
          <p:cNvSpPr/>
          <p:nvPr/>
        </p:nvSpPr>
        <p:spPr>
          <a:xfrm>
            <a:off x="7252324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4" name="Google Shape;3864;p49"/>
          <p:cNvSpPr/>
          <p:nvPr/>
        </p:nvSpPr>
        <p:spPr>
          <a:xfrm>
            <a:off x="6880728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5" name="Google Shape;3865;p49"/>
          <p:cNvSpPr/>
          <p:nvPr/>
        </p:nvSpPr>
        <p:spPr>
          <a:xfrm>
            <a:off x="7066526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6" name="Google Shape;3866;p49"/>
          <p:cNvSpPr/>
          <p:nvPr/>
        </p:nvSpPr>
        <p:spPr>
          <a:xfrm>
            <a:off x="6694931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7" name="Google Shape;3867;p49"/>
          <p:cNvSpPr/>
          <p:nvPr/>
        </p:nvSpPr>
        <p:spPr>
          <a:xfrm>
            <a:off x="4782134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8" name="Google Shape;3868;p49"/>
          <p:cNvSpPr/>
          <p:nvPr/>
        </p:nvSpPr>
        <p:spPr>
          <a:xfrm>
            <a:off x="4967932" y="2833514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9" name="Google Shape;3869;p49"/>
          <p:cNvSpPr/>
          <p:nvPr/>
        </p:nvSpPr>
        <p:spPr>
          <a:xfrm>
            <a:off x="4596337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0" name="Google Shape;3870;p49"/>
          <p:cNvSpPr/>
          <p:nvPr/>
        </p:nvSpPr>
        <p:spPr>
          <a:xfrm>
            <a:off x="4224741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1" name="Google Shape;3871;p49"/>
          <p:cNvSpPr/>
          <p:nvPr/>
        </p:nvSpPr>
        <p:spPr>
          <a:xfrm>
            <a:off x="4410539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2" name="Google Shape;3872;p49"/>
          <p:cNvSpPr/>
          <p:nvPr/>
        </p:nvSpPr>
        <p:spPr>
          <a:xfrm>
            <a:off x="4038943" y="2833514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3832;p49">
            <a:extLst>
              <a:ext uri="{FF2B5EF4-FFF2-40B4-BE49-F238E27FC236}">
                <a16:creationId xmlns:a16="http://schemas.microsoft.com/office/drawing/2014/main" id="{41FC2F5F-B884-40A3-88CC-2DAE1856F292}"/>
              </a:ext>
            </a:extLst>
          </p:cNvPr>
          <p:cNvSpPr txBox="1">
            <a:spLocks/>
          </p:cNvSpPr>
          <p:nvPr/>
        </p:nvSpPr>
        <p:spPr>
          <a:xfrm>
            <a:off x="3695737" y="1618898"/>
            <a:ext cx="1801200" cy="82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تشخیص ۸ سناریوی حمله در لایه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</a:t>
            </a:r>
          </a:p>
        </p:txBody>
      </p:sp>
      <p:sp>
        <p:nvSpPr>
          <p:cNvPr id="76" name="Google Shape;3832;p49">
            <a:extLst>
              <a:ext uri="{FF2B5EF4-FFF2-40B4-BE49-F238E27FC236}">
                <a16:creationId xmlns:a16="http://schemas.microsoft.com/office/drawing/2014/main" id="{99B7B1F0-E435-497C-A37E-9F0A426E3678}"/>
              </a:ext>
            </a:extLst>
          </p:cNvPr>
          <p:cNvSpPr txBox="1">
            <a:spLocks/>
          </p:cNvSpPr>
          <p:nvPr/>
        </p:nvSpPr>
        <p:spPr>
          <a:xfrm>
            <a:off x="6351724" y="1613236"/>
            <a:ext cx="1801200" cy="82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استفاده از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Machine Learning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</a:p>
        </p:txBody>
      </p:sp>
      <p:sp>
        <p:nvSpPr>
          <p:cNvPr id="77" name="Google Shape;3832;p49">
            <a:extLst>
              <a:ext uri="{FF2B5EF4-FFF2-40B4-BE49-F238E27FC236}">
                <a16:creationId xmlns:a16="http://schemas.microsoft.com/office/drawing/2014/main" id="{39E83B47-8BC4-451E-9784-BCE55C8B945E}"/>
              </a:ext>
            </a:extLst>
          </p:cNvPr>
          <p:cNvSpPr txBox="1">
            <a:spLocks/>
          </p:cNvSpPr>
          <p:nvPr/>
        </p:nvSpPr>
        <p:spPr>
          <a:xfrm>
            <a:off x="1039675" y="3161616"/>
            <a:ext cx="1801200" cy="82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اجرای اجزای اصلی 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Docker</a:t>
            </a:r>
          </a:p>
        </p:txBody>
      </p:sp>
      <p:sp>
        <p:nvSpPr>
          <p:cNvPr id="78" name="Google Shape;3832;p49">
            <a:extLst>
              <a:ext uri="{FF2B5EF4-FFF2-40B4-BE49-F238E27FC236}">
                <a16:creationId xmlns:a16="http://schemas.microsoft.com/office/drawing/2014/main" id="{B32EFFC0-DDFF-4727-BAB4-B71F25A37ED2}"/>
              </a:ext>
            </a:extLst>
          </p:cNvPr>
          <p:cNvSpPr txBox="1">
            <a:spLocks/>
          </p:cNvSpPr>
          <p:nvPr/>
        </p:nvSpPr>
        <p:spPr>
          <a:xfrm>
            <a:off x="3695737" y="3161615"/>
            <a:ext cx="1801200" cy="82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ثبت رویدادهای امنیتی و نمایش آن‌ها 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Dashboard</a:t>
            </a:r>
          </a:p>
        </p:txBody>
      </p:sp>
      <p:sp>
        <p:nvSpPr>
          <p:cNvPr id="79" name="Google Shape;3832;p49">
            <a:extLst>
              <a:ext uri="{FF2B5EF4-FFF2-40B4-BE49-F238E27FC236}">
                <a16:creationId xmlns:a16="http://schemas.microsoft.com/office/drawing/2014/main" id="{48F866EE-8438-4658-9E32-0DE73A29DBEC}"/>
              </a:ext>
            </a:extLst>
          </p:cNvPr>
          <p:cNvSpPr txBox="1">
            <a:spLocks/>
          </p:cNvSpPr>
          <p:nvPr/>
        </p:nvSpPr>
        <p:spPr>
          <a:xfrm>
            <a:off x="6412991" y="3161616"/>
            <a:ext cx="1801200" cy="82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rtl="1"/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ارزیابی عملکرد با مجموعه تست مستقل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80" name="Google Shape;3824;p49">
            <a:extLst>
              <a:ext uri="{FF2B5EF4-FFF2-40B4-BE49-F238E27FC236}">
                <a16:creationId xmlns:a16="http://schemas.microsoft.com/office/drawing/2014/main" id="{D54A2213-A74A-47DB-90CE-D562A5E73744}"/>
              </a:ext>
            </a:extLst>
          </p:cNvPr>
          <p:cNvSpPr txBox="1">
            <a:spLocks/>
          </p:cNvSpPr>
          <p:nvPr/>
        </p:nvSpPr>
        <p:spPr>
          <a:xfrm>
            <a:off x="-88491" y="4079531"/>
            <a:ext cx="6054213" cy="112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pPr algn="r" rtl="1"/>
            <a:r>
              <a:rPr lang="fa-I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خارج از محدوده فعلی</a:t>
            </a:r>
          </a:p>
          <a:p>
            <a:pPr algn="r" rtl="1"/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پیاده‌سازی کامل </a:t>
            </a:r>
            <a:r>
              <a:rPr lang="en-US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HTTPS/TLS</a:t>
            </a:r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، </a:t>
            </a:r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استقرار </a:t>
            </a:r>
            <a:r>
              <a:rPr lang="en-US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Production</a:t>
            </a:r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مقیاس واقعی و تضمین تشخیص تمام حملات کاملاً ناشناخته در محدوده این </a:t>
            </a:r>
            <a:r>
              <a:rPr lang="en-US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Prototype</a:t>
            </a:r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قرار ندارند.</a:t>
            </a:r>
            <a:endParaRPr lang="fa-IR" sz="105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5515897" y="157432"/>
            <a:ext cx="2973872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Badr" panose="00000400000000000000" pitchFamily="2" charset="-78"/>
              </a:rPr>
              <a:t>معماری کلی سیستم</a:t>
            </a:r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825609" y="2142268"/>
            <a:ext cx="7717500" cy="2985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پروژه به‌صورت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Reverse Proxy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بین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قرار گرفته است؛ بنابراین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مستقیماً با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ارتباط برقرار نمی‌کند.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هر درخواست ابتدا توسط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دریافت شده و پس از استخراج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وارد فرآیند تشخیص می‌شود.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نتیجه تصمیم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BLOCK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: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درخواست به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ارسال نمی‌شود و رویداد در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Log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ثبت می‌شود.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ALLOW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: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درخواست به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 Forward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می‌شود و پاسخ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بازگردانده می‌شود.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Reverse Proxy</a:t>
            </a:r>
            <a:r>
              <a:rPr lang="fa-IR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چیست؟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Reverse Proxy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سرویسی است که از طرف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Server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مقصد درخواست‌های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را دریافت می‌کند و می‌تواند پیش از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Forward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کردن درخواست، آن را بررسی و کنترل کند.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5A2ED-AA88-4DFB-8E14-0763DEC3B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73" y="832066"/>
            <a:ext cx="7809224" cy="125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4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9"/>
          <p:cNvSpPr txBox="1">
            <a:spLocks noGrp="1"/>
          </p:cNvSpPr>
          <p:nvPr>
            <p:ph type="title"/>
          </p:nvPr>
        </p:nvSpPr>
        <p:spPr>
          <a:xfrm>
            <a:off x="941850" y="751661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cs typeface="B Badr" panose="00000400000000000000" pitchFamily="2" charset="-78"/>
              </a:rPr>
              <a:t>ساختار پروژه</a:t>
            </a:r>
          </a:p>
        </p:txBody>
      </p:sp>
      <p:graphicFrame>
        <p:nvGraphicFramePr>
          <p:cNvPr id="3161" name="Google Shape;3161;p39"/>
          <p:cNvGraphicFramePr/>
          <p:nvPr>
            <p:extLst>
              <p:ext uri="{D42A27DB-BD31-4B8C-83A1-F6EECF244321}">
                <p14:modId xmlns:p14="http://schemas.microsoft.com/office/powerpoint/2010/main" val="3854672533"/>
              </p:ext>
            </p:extLst>
          </p:nvPr>
        </p:nvGraphicFramePr>
        <p:xfrm>
          <a:off x="796200" y="1706224"/>
          <a:ext cx="7704000" cy="2925870"/>
        </p:xfrm>
        <a:graphic>
          <a:graphicData uri="http://schemas.openxmlformats.org/drawingml/2006/table">
            <a:tbl>
              <a:tblPr>
                <a:noFill/>
                <a:tableStyleId>{A0560E92-6E82-47FC-8FF9-BEE0E81252DB}</a:tableStyleId>
              </a:tblPr>
              <a:tblGrid>
                <a:gridCol w="145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5875">
                  <a:extLst>
                    <a:ext uri="{9D8B030D-6E8A-4147-A177-3AD203B41FA5}">
                      <a16:colId xmlns:a16="http://schemas.microsoft.com/office/drawing/2014/main" val="289417208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app/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سرورهای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Flask: main.py (WAF)، backend.py، dashboard_api.py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دریافت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Request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و سرویس‌های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Flask</a:t>
                      </a:r>
                      <a:endParaRPr sz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core/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engine.py (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تصمیم‌گیری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Hybrid)، blocker.py، logger.py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موتور تصمیم‌گیری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Hybrid، Blocking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و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Logging</a:t>
                      </a:r>
                      <a:endParaRPr sz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rules/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۸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Detector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قاعده‌محور (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Regex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+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شمارش نشانه)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Detector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های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Rule-Based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برای ۸ سناریوی حمله</a:t>
                      </a:r>
                      <a:endParaRPr sz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ml/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features.py،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مدل‌های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SQL/XSS، train.py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Feature Engineering،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آموزش و مدل‌های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SQL/XSS</a:t>
                      </a:r>
                      <a:endParaRPr sz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data/datasets/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تولید دیتاست مصنوعی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SQL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و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XSS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داده‌های آموزشی مصنوعی</a:t>
                      </a:r>
                      <a:endParaRPr sz="12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evaluation/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metrics.py + </a:t>
                      </a:r>
                      <a:r>
                        <a:rPr lang="fa-IR" sz="12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مجموعه تست مستقل ۱۱۹ نمونه‌ای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مجموعه تست مستقل و محاسبه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Metrics</a:t>
                      </a:r>
                      <a:endParaRPr sz="12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dashboard/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رابط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HTML</a:t>
                      </a:r>
                      <a:r>
                        <a:rPr lang="fa-IR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 </a:t>
                      </a:r>
                      <a:r>
                        <a:rPr lang="fa-IR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مانیتورینگ زنده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رابط مانیتورینگ و نمایش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Log</a:t>
                      </a:r>
                      <a:r>
                        <a:rPr lang="fa-IR" sz="1200" b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ه</a:t>
                      </a:r>
                      <a:endParaRPr sz="12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dvent Pr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749463"/>
                  </a:ext>
                </a:extLst>
              </a:tr>
            </a:tbl>
          </a:graphicData>
        </a:graphic>
      </p:graphicFrame>
      <p:grpSp>
        <p:nvGrpSpPr>
          <p:cNvPr id="3164" name="Google Shape;3164;p39"/>
          <p:cNvGrpSpPr/>
          <p:nvPr/>
        </p:nvGrpSpPr>
        <p:grpSpPr>
          <a:xfrm>
            <a:off x="2139558" y="81885"/>
            <a:ext cx="1654433" cy="326624"/>
            <a:chOff x="7549958" y="-1584240"/>
            <a:chExt cx="1654433" cy="326624"/>
          </a:xfrm>
        </p:grpSpPr>
        <p:sp>
          <p:nvSpPr>
            <p:cNvPr id="3165" name="Google Shape;3165;p39"/>
            <p:cNvSpPr/>
            <p:nvPr/>
          </p:nvSpPr>
          <p:spPr>
            <a:xfrm>
              <a:off x="9078371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39"/>
            <p:cNvSpPr/>
            <p:nvPr/>
          </p:nvSpPr>
          <p:spPr>
            <a:xfrm>
              <a:off x="8696268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39"/>
            <p:cNvSpPr/>
            <p:nvPr/>
          </p:nvSpPr>
          <p:spPr>
            <a:xfrm>
              <a:off x="8314164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39"/>
            <p:cNvSpPr/>
            <p:nvPr/>
          </p:nvSpPr>
          <p:spPr>
            <a:xfrm>
              <a:off x="8123113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9"/>
            <p:cNvSpPr/>
            <p:nvPr/>
          </p:nvSpPr>
          <p:spPr>
            <a:xfrm>
              <a:off x="888731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9"/>
            <p:cNvSpPr/>
            <p:nvPr/>
          </p:nvSpPr>
          <p:spPr>
            <a:xfrm>
              <a:off x="907837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9"/>
            <p:cNvSpPr/>
            <p:nvPr/>
          </p:nvSpPr>
          <p:spPr>
            <a:xfrm>
              <a:off x="8314164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9"/>
            <p:cNvSpPr/>
            <p:nvPr/>
          </p:nvSpPr>
          <p:spPr>
            <a:xfrm>
              <a:off x="8505216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9"/>
            <p:cNvSpPr/>
            <p:nvPr/>
          </p:nvSpPr>
          <p:spPr>
            <a:xfrm>
              <a:off x="8123113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9"/>
            <p:cNvSpPr/>
            <p:nvPr/>
          </p:nvSpPr>
          <p:spPr>
            <a:xfrm>
              <a:off x="774100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9"/>
            <p:cNvSpPr/>
            <p:nvPr/>
          </p:nvSpPr>
          <p:spPr>
            <a:xfrm>
              <a:off x="793206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9"/>
            <p:cNvSpPr/>
            <p:nvPr/>
          </p:nvSpPr>
          <p:spPr>
            <a:xfrm>
              <a:off x="7549958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4779818" y="663123"/>
            <a:ext cx="3134987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بسته بندی با </a:t>
            </a: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Docker</a:t>
            </a:r>
            <a:endParaRPr lang="fa-IR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653263" y="1403823"/>
            <a:ext cx="7717500" cy="331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برای جداسازی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از برنامه مقصد، اجزای اصلی سیستم در دو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Container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اجرا می‌شوند.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waf_main</a:t>
            </a:r>
            <a:endParaRPr lang="fa-IR" sz="16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نقطه ورود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پورت 5000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دسترس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waf_backend</a:t>
            </a:r>
            <a:endParaRPr lang="fa-IR" sz="16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برنامه وب مقصد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پورت 5001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دسترسی داخلی از طریق شبکه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Docker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معماری،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مستقیماً در معرض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قرار نمی‌گیرد 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 ابتدا از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عبور می‌کنند.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Container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محیط اجرایی ایزوله‌ای است که برنامه و وابستگی‌های آن را در یک محیط قابل‌تکرار اجرا می‌کند.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482FE5-25F8-419A-A170-324F1E292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63" y="322199"/>
            <a:ext cx="2353174" cy="363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6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5174673" y="157432"/>
            <a:ext cx="3315096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چرخه کامل </a:t>
            </a: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endParaRPr lang="fa-IR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4201527" y="898132"/>
            <a:ext cx="4288242" cy="3971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چرخه کامل یک درخواست از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تا تصمیم 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6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پروژه،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Hybrid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 معنی یک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Sequential Detection Pipeline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است؛ یعنی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Detector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 به‌صورت متوالی اجرا می‌شوند و با یکدیگر رأی‌گیری یا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Ensemble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نمی‌کنند.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ترتیب پردازش</a:t>
            </a: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HTTP Request↓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 Extraction↓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Rule↓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 Rule↓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↓ شش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دیگر</a:t>
            </a: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ML↓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 ML↓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ALLOW / BLOCK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به‌محض اینکه یک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Detector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حمله را تشخیص دهد، بررسی متوقف شده و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مسدود می‌شود.در صورت عدم تشخیص حمله،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نهایت به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 Forward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می‌شود.</a:t>
            </a:r>
          </a:p>
        </p:txBody>
      </p:sp>
      <p:pic>
        <p:nvPicPr>
          <p:cNvPr id="5" name="Image 0" descr="/home/claude/work/figures/hybrid_flow.png">
            <a:extLst>
              <a:ext uri="{FF2B5EF4-FFF2-40B4-BE49-F238E27FC236}">
                <a16:creationId xmlns:a16="http://schemas.microsoft.com/office/drawing/2014/main" id="{C9448A3B-CCED-47C7-8544-30A8DCB9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1" y="243493"/>
            <a:ext cx="2956057" cy="465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334431" y="2402103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600200" y="473927"/>
            <a:ext cx="5145752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از کجا ساخته می‌شود؟</a:t>
            </a:r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06679" y="1453195"/>
            <a:ext cx="3939540" cy="3420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برای اینکه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Detector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 یک ورودی واحد داشته باشند، بخش‌های مختلف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HTTP Request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استخراج و با یکدیگر ترکیب می‌شوند: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indent="-285750" algn="r" rtl="1">
              <a:buSzPts val="1100"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Path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مسیر درخواست</a:t>
            </a:r>
          </a:p>
          <a:p>
            <a:pPr marL="285750" indent="-285750" algn="r" rtl="1">
              <a:buSzPts val="1100"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Query String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رشته پارامترها بعد از ?</a:t>
            </a:r>
          </a:p>
          <a:p>
            <a:pPr marL="285750" indent="-285750" algn="r" rtl="1">
              <a:buSzPts val="1100"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Query Parameters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پارامترهای استخراج‌شده از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Query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indent="-285750" algn="r" rtl="1">
              <a:buSzPts val="1100"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Body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محتوای بدنه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Request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پس از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Decode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شدن این بخش‌ها، یک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واحد ساخته می‌شود:</a:t>
            </a:r>
          </a:p>
          <a:p>
            <a:pPr marL="0" indent="0" algn="r" rtl="1">
              <a:buSzPts val="1100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Path + Query String + Query Parameters + Body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این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Detector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در صورت نیاز به مدل‌های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ارسال می‌شود.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B1CEC-08CB-447F-9C8C-48F82F3E7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53195"/>
            <a:ext cx="5029200" cy="30331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5334DA-B810-4C3B-B592-F6F3395A53C9}"/>
              </a:ext>
            </a:extLst>
          </p:cNvPr>
          <p:cNvSpPr txBox="1"/>
          <p:nvPr/>
        </p:nvSpPr>
        <p:spPr>
          <a:xfrm>
            <a:off x="4286424" y="1546042"/>
            <a:ext cx="4685953" cy="2330446"/>
          </a:xfrm>
          <a:prstGeom prst="rect">
            <a:avLst/>
          </a:prstGeom>
          <a:solidFill>
            <a:schemeClr val="bg2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decoded_path = unquote(path)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query_string = unquote(request.query_string.decode())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query_params = " ".join(f"{k}={v}" for k, v in request.args.items())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= request.get_data(as_text=True)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= " ".join([decoded_path, query_string, query_params, body])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p50"/>
          <p:cNvSpPr txBox="1">
            <a:spLocks noGrp="1"/>
          </p:cNvSpPr>
          <p:nvPr>
            <p:ph type="title"/>
          </p:nvPr>
        </p:nvSpPr>
        <p:spPr>
          <a:xfrm>
            <a:off x="3352799" y="10127"/>
            <a:ext cx="5405635" cy="819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هشت سناریوی </a:t>
            </a:r>
            <a:r>
              <a:rPr lang="en-US" sz="28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</a:t>
            </a:r>
            <a:endParaRPr sz="28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graphicFrame>
        <p:nvGraphicFramePr>
          <p:cNvPr id="3878" name="Google Shape;3878;p50"/>
          <p:cNvGraphicFramePr/>
          <p:nvPr>
            <p:extLst>
              <p:ext uri="{D42A27DB-BD31-4B8C-83A1-F6EECF244321}">
                <p14:modId xmlns:p14="http://schemas.microsoft.com/office/powerpoint/2010/main" val="1575028333"/>
              </p:ext>
            </p:extLst>
          </p:nvPr>
        </p:nvGraphicFramePr>
        <p:xfrm>
          <a:off x="1437126" y="977866"/>
          <a:ext cx="6746754" cy="3866686"/>
        </p:xfrm>
        <a:graphic>
          <a:graphicData uri="http://schemas.openxmlformats.org/drawingml/2006/table">
            <a:tbl>
              <a:tblPr>
                <a:noFill/>
                <a:tableStyleId>{A0560E92-6E82-47FC-8FF9-BEE0E81252DB}</a:tableStyleId>
              </a:tblPr>
              <a:tblGrid>
                <a:gridCol w="264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0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556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lumni Sans Pinstripe"/>
                        </a:rPr>
                        <a:t>نوع حمله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lumni Sans Pinstripe"/>
                        </a:rPr>
                        <a:t>فایل مسئول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lumni Sans Pinstripe"/>
                        </a:rPr>
                        <a:t>روش تشخیص</a:t>
                      </a:r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  <a:sym typeface="Alumni Sans Pinstrip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SQL Injection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rules/sql_advanced.py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Regex + </a:t>
                      </a:r>
                      <a:r>
                        <a:rPr lang="fa-IR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شمارش کلمات کلیدی</a:t>
                      </a:r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XSS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rules/xss_advanced.py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Regex + Decode </a:t>
                      </a:r>
                      <a:r>
                        <a:rPr lang="fa-IR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چندمرحله‌ای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Command Injection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owasp_other_advanced.py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Regex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LDAP Injection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owasp_other_advanced.py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شمارش کاراکتر خاص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988909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XXE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owasp_other_advanced.py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شمارش کلمات کلیدی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XML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460224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Path Traversal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owasp_other_advanced.py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Regex</a:t>
                      </a:r>
                      <a:endParaRPr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 Badr" panose="00000400000000000000" pitchFamily="2" charset="-78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11027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SSRF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owasp_other_advanced.py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شمارش رشته‌های آدرس داخلی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762506"/>
                  </a:ext>
                </a:extLst>
              </a:tr>
              <a:tr h="39036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  <a:sym typeface="Advent Pro"/>
                        </a:rPr>
                        <a:t>Open Redirect</a:t>
                      </a: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owasp_other_advanced.py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a-IR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شمارش شاخص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 Badr" panose="00000400000000000000" pitchFamily="2" charset="-78"/>
                        </a:rPr>
                        <a:t>URL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658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51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334431" y="2402103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541924" y="85647"/>
            <a:ext cx="5145752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چگونه </a:t>
            </a:r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SQLInjectionDetector </a:t>
            </a:r>
            <a:r>
              <a:rPr lang="fa-IR" sz="2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امتیاز می‌دهد؟</a:t>
            </a:r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06679" y="912855"/>
            <a:ext cx="3939540" cy="42306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Detector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ابتدا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را با مجموعه‌ای از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Regex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 بررسی می‌کند.هر تطابق: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+0.3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confidence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سپس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Keyword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نیز بررسی می‌شوند و در صورت وجود حداقل دو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Keyword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،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امتیاز بیشتری اضافه می‌شود.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مثال:</a:t>
            </a:r>
          </a:p>
          <a:p>
            <a:pPr marL="0" lvl="0" indent="0" algn="r" rtl="1">
              <a:buSzPts val="1100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OR 1=1 --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a-IR" sz="10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Boolean-based → +0.3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Comment → +0.3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a-IR" sz="105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بنابراین: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confidence = 0.6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چون آستانه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برابر 0.5 است: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0.6 ≥ 0.5 →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BLOCK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a-IR" sz="10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این روش تلاش می‌کند تصمیم را بر اساس ترکیب چند نشانه بگیرد، اما همین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Threshold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می‌تواند باعث از دست رفتن برخی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ساده شود.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B1CEC-08CB-447F-9C8C-48F82F3E7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53195"/>
            <a:ext cx="5029200" cy="30331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5334DA-B810-4C3B-B592-F6F3395A53C9}"/>
              </a:ext>
            </a:extLst>
          </p:cNvPr>
          <p:cNvSpPr txBox="1"/>
          <p:nvPr/>
        </p:nvSpPr>
        <p:spPr>
          <a:xfrm>
            <a:off x="4286425" y="1546042"/>
            <a:ext cx="4651836" cy="2330446"/>
          </a:xfrm>
          <a:prstGeom prst="rect">
            <a:avLst/>
          </a:prstGeom>
          <a:solidFill>
            <a:schemeClr val="bg2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pattern in self.patterns: </a:t>
            </a:r>
            <a:endParaRPr kumimoji="0" lang="fa-IR" sz="1300" b="0" i="0" u="none" strike="noStrike" kern="1200" cap="none" spc="0" normalizeH="0" baseline="0" noProof="0">
              <a:ln>
                <a:noFill/>
              </a:ln>
              <a:solidFill>
                <a:srgbClr val="D6F3EF"/>
              </a:solidFill>
              <a:effectLst/>
              <a:uLnTx/>
              <a:uFillTx/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re.search(pattern, upper_input):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confidence += 0.3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300" b="0" i="0" u="none" strike="noStrike" kern="1200" cap="none" spc="0" normalizeH="0" baseline="0" noProof="0">
              <a:ln>
                <a:noFill/>
              </a:ln>
              <a:solidFill>
                <a:srgbClr val="D6F3EF"/>
              </a:solidFill>
              <a:effectLst/>
              <a:uLnTx/>
              <a:uFillTx/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D6F3EF"/>
              </a:solidFill>
              <a:effectLst/>
              <a:uLnTx/>
              <a:uFillTx/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keyword_count = sum(1 for kw in self.sql_keywords if kw in upper_input)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keyword_count &gt;= 2: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6F3E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 += 0.2 * keyword_count</a:t>
            </a:r>
          </a:p>
        </p:txBody>
      </p:sp>
    </p:spTree>
    <p:extLst>
      <p:ext uri="{BB962C8B-B14F-4D97-AF65-F5344CB8AC3E}">
        <p14:creationId xmlns:p14="http://schemas.microsoft.com/office/powerpoint/2010/main" val="235799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265850" y="2160137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004542" y="1402475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705322" y="372484"/>
            <a:ext cx="5145752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چرا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کنار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Rule-Based؟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-498870" y="1104900"/>
            <a:ext cx="6287737" cy="3788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بر اساس الگوهایی عمل می‌کند که از قبل تعریف شده‌اند.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بنابراین تغییر شکل یک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ممکن است باعث شود یک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Regex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مشخص دیگر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Match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نشود.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پروژه،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به‌عنوان لایه تشخیص مکمل اضافه شده است.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مدل با استفاده از ویژگی‌هایی مانند:</a:t>
            </a:r>
          </a:p>
          <a:p>
            <a:pPr marL="285750" indent="-285750" algn="r" rtl="1">
              <a:buSzPts val="1100"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طول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indent="-285750" algn="r" rtl="1">
              <a:buSzPts val="1100"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تنوع کاراکترها</a:t>
            </a:r>
          </a:p>
          <a:p>
            <a:pPr marL="285750" indent="-285750" algn="r" rtl="1">
              <a:buSzPts val="1100"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تعداد کاراکترهای خاص</a:t>
            </a:r>
          </a:p>
          <a:p>
            <a:pPr marL="285750" indent="-285750" algn="r" rtl="1">
              <a:buSzPts val="1100"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Keyword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مرتبط با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احتمال حمله بودن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را برآورد می‌کند.</a:t>
            </a:r>
          </a:p>
          <a:p>
            <a:pPr marL="0" indent="0" algn="r" rtl="1">
              <a:buSzPts val="1100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SzPts val="1100"/>
              <a:buNone/>
            </a:pPr>
            <a:r>
              <a:rPr lang="fa-IR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نکته</a:t>
            </a:r>
          </a:p>
          <a:p>
            <a:pPr marL="0" indent="0" algn="r" rtl="1">
              <a:buSzPts val="1100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جایگزین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نیست.</a:t>
            </a:r>
          </a:p>
          <a:p>
            <a:pPr marL="0" indent="0" algn="r" rtl="1">
              <a:buSzPts val="1100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نسخه فعلی،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فقط برای: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 + XSS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استفاده شده است.</a:t>
            </a:r>
          </a:p>
          <a:p>
            <a:pPr marL="0" indent="0" algn="r" rtl="1">
              <a:buSzPts val="1100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مدل 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Logistic Regression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این پروژه از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Deep Learning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یا تحلیل معنایی متن استفاده نمی‌کند.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8012" y="2268612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3548" y="1977595"/>
            <a:ext cx="841230" cy="133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32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2" name="Google Shape;4282;p57"/>
          <p:cNvSpPr/>
          <p:nvPr/>
        </p:nvSpPr>
        <p:spPr>
          <a:xfrm>
            <a:off x="797486" y="846025"/>
            <a:ext cx="1075095" cy="91634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283" name="Google Shape;4283;p57"/>
          <p:cNvSpPr/>
          <p:nvPr/>
        </p:nvSpPr>
        <p:spPr>
          <a:xfrm>
            <a:off x="2574372" y="819870"/>
            <a:ext cx="1075095" cy="91634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284" name="Google Shape;4284;p57"/>
          <p:cNvSpPr/>
          <p:nvPr/>
        </p:nvSpPr>
        <p:spPr>
          <a:xfrm>
            <a:off x="4262444" y="897388"/>
            <a:ext cx="1075095" cy="91634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285" name="Google Shape;4285;p57"/>
          <p:cNvSpPr txBox="1">
            <a:spLocks noGrp="1"/>
          </p:cNvSpPr>
          <p:nvPr>
            <p:ph type="title"/>
          </p:nvPr>
        </p:nvSpPr>
        <p:spPr>
          <a:xfrm>
            <a:off x="557905" y="910137"/>
            <a:ext cx="1554256" cy="545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3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286" name="Google Shape;4286;p57"/>
          <p:cNvSpPr txBox="1">
            <a:spLocks noGrp="1"/>
          </p:cNvSpPr>
          <p:nvPr>
            <p:ph type="subTitle" idx="1"/>
          </p:nvPr>
        </p:nvSpPr>
        <p:spPr>
          <a:xfrm>
            <a:off x="307338" y="1865153"/>
            <a:ext cx="2093557" cy="882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ویژگی عمومی</a:t>
            </a: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length، entropy، special_chars</a:t>
            </a:r>
          </a:p>
        </p:txBody>
      </p:sp>
      <p:sp>
        <p:nvSpPr>
          <p:cNvPr id="4287" name="Google Shape;4287;p57"/>
          <p:cNvSpPr txBox="1">
            <a:spLocks noGrp="1"/>
          </p:cNvSpPr>
          <p:nvPr>
            <p:ph type="title" idx="2"/>
          </p:nvPr>
        </p:nvSpPr>
        <p:spPr>
          <a:xfrm>
            <a:off x="2329897" y="851477"/>
            <a:ext cx="1554256" cy="545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6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288" name="Google Shape;4288;p57"/>
          <p:cNvSpPr txBox="1">
            <a:spLocks noGrp="1"/>
          </p:cNvSpPr>
          <p:nvPr>
            <p:ph type="subTitle" idx="3"/>
          </p:nvPr>
        </p:nvSpPr>
        <p:spPr>
          <a:xfrm>
            <a:off x="2125427" y="1886896"/>
            <a:ext cx="1963196" cy="916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پرچم کلمه کلیدی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&lt;script، onerror...</a:t>
            </a:r>
          </a:p>
        </p:txBody>
      </p:sp>
      <p:sp>
        <p:nvSpPr>
          <p:cNvPr id="4289" name="Google Shape;4289;p57"/>
          <p:cNvSpPr txBox="1">
            <a:spLocks noGrp="1"/>
          </p:cNvSpPr>
          <p:nvPr>
            <p:ph type="title" idx="4"/>
          </p:nvPr>
        </p:nvSpPr>
        <p:spPr>
          <a:xfrm>
            <a:off x="4031911" y="900555"/>
            <a:ext cx="1554256" cy="8554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11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290" name="Google Shape;4290;p57"/>
          <p:cNvSpPr txBox="1">
            <a:spLocks noGrp="1"/>
          </p:cNvSpPr>
          <p:nvPr>
            <p:ph type="subTitle" idx="5"/>
          </p:nvPr>
        </p:nvSpPr>
        <p:spPr>
          <a:xfrm>
            <a:off x="3993229" y="1896221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پرچم کلمه کلیدی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</a:t>
            </a: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SELECT، UNION، DROP...</a:t>
            </a:r>
          </a:p>
        </p:txBody>
      </p:sp>
      <p:grpSp>
        <p:nvGrpSpPr>
          <p:cNvPr id="4291" name="Google Shape;4291;p57"/>
          <p:cNvGrpSpPr/>
          <p:nvPr/>
        </p:nvGrpSpPr>
        <p:grpSpPr>
          <a:xfrm rot="-5400000">
            <a:off x="11039953" y="968610"/>
            <a:ext cx="2227589" cy="726958"/>
            <a:chOff x="6972150" y="711750"/>
            <a:chExt cx="1039375" cy="339193"/>
          </a:xfrm>
        </p:grpSpPr>
        <p:sp>
          <p:nvSpPr>
            <p:cNvPr id="4292" name="Google Shape;4292;p5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3" name="Google Shape;4293;p5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4" name="Google Shape;4294;p5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5" name="Google Shape;4295;p5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6" name="Google Shape;4296;p5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7" name="Google Shape;4297;p5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8" name="Google Shape;4298;p5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299" name="Google Shape;4299;p5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0" name="Google Shape;4300;p5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1" name="Google Shape;4301;p5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2" name="Google Shape;4302;p5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3" name="Google Shape;4303;p5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4" name="Google Shape;4304;p5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5" name="Google Shape;4305;p5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6" name="Google Shape;4306;p5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7" name="Google Shape;4307;p5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8" name="Google Shape;4308;p5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09" name="Google Shape;4309;p5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0" name="Google Shape;4310;p5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1" name="Google Shape;4311;p5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2" name="Google Shape;4312;p5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3" name="Google Shape;4313;p5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4" name="Google Shape;4314;p5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5" name="Google Shape;4315;p5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6" name="Google Shape;4316;p5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7" name="Google Shape;4317;p5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8" name="Google Shape;4318;p5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19" name="Google Shape;4319;p5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20" name="Google Shape;4320;p5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21" name="Google Shape;4321;p5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22" name="Google Shape;4322;p5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23" name="Google Shape;4323;p5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</p:grpSp>
      <p:pic>
        <p:nvPicPr>
          <p:cNvPr id="4324" name="Google Shape;43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792" y="865858"/>
            <a:ext cx="583605" cy="356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5" name="Google Shape;432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0573" y="1345611"/>
            <a:ext cx="458364" cy="51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6" name="Google Shape;432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5674" y="747446"/>
            <a:ext cx="506487" cy="54599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3185;p40">
            <a:extLst>
              <a:ext uri="{FF2B5EF4-FFF2-40B4-BE49-F238E27FC236}">
                <a16:creationId xmlns:a16="http://schemas.microsoft.com/office/drawing/2014/main" id="{D99FAF25-8570-45B7-A7A8-F7B14DC9C764}"/>
              </a:ext>
            </a:extLst>
          </p:cNvPr>
          <p:cNvSpPr txBox="1">
            <a:spLocks/>
          </p:cNvSpPr>
          <p:nvPr/>
        </p:nvSpPr>
        <p:spPr>
          <a:xfrm>
            <a:off x="557905" y="10976"/>
            <a:ext cx="6771513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48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umni Sans Pinstripe"/>
              <a:buNone/>
              <a:defRPr sz="6000" b="1" i="0" u="none" strike="noStrike" cap="none" spc="0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pPr rtl="1"/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Feature Engineering </a:t>
            </a: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۲۰ ویژگی واقعی</a:t>
            </a:r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6DB6C11E-7055-4FDC-AEBF-81846737E6C7}"/>
              </a:ext>
            </a:extLst>
          </p:cNvPr>
          <p:cNvSpPr/>
          <p:nvPr/>
        </p:nvSpPr>
        <p:spPr>
          <a:xfrm>
            <a:off x="889412" y="3011366"/>
            <a:ext cx="6207633" cy="1384688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CDB8D7B6-FD2D-4006-A2CC-6005F2CFB77A}"/>
              </a:ext>
            </a:extLst>
          </p:cNvPr>
          <p:cNvSpPr txBox="1"/>
          <p:nvPr/>
        </p:nvSpPr>
        <p:spPr>
          <a:xfrm>
            <a:off x="930642" y="3078347"/>
            <a:ext cx="6479097" cy="1250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buClrTx/>
              <a:buFontTx/>
              <a:buNone/>
            </a:pPr>
            <a:r>
              <a:rPr lang="en-US" sz="1000" kern="1200" dirty="0">
                <a:solidFill>
                  <a:srgbClr val="D6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extract_features(payload):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5000"/>
              </a:lnSpc>
              <a:buClrTx/>
              <a:buFontTx/>
              <a:buNone/>
            </a:pPr>
            <a:r>
              <a:rPr lang="en-US" sz="1000" kern="1200" dirty="0">
                <a:solidFill>
                  <a:srgbClr val="D6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 = {}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5000"/>
              </a:lnSpc>
              <a:buClrTx/>
              <a:buFontTx/>
              <a:buNone/>
            </a:pPr>
            <a:r>
              <a:rPr lang="en-US" sz="1000" kern="1200" dirty="0">
                <a:solidFill>
                  <a:srgbClr val="D6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features["length"] = len(payload)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5000"/>
              </a:lnSpc>
              <a:buClrTx/>
              <a:buFontTx/>
              <a:buNone/>
            </a:pPr>
            <a:r>
              <a:rPr lang="en-US" sz="1000" kern="1200" dirty="0">
                <a:solidFill>
                  <a:srgbClr val="D6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features["entropy"] = entropy(payload)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5000"/>
              </a:lnSpc>
              <a:buClrTx/>
              <a:buFontTx/>
              <a:buNone/>
            </a:pPr>
            <a:r>
              <a:rPr lang="en-US" sz="1000" kern="1200" dirty="0">
                <a:solidFill>
                  <a:srgbClr val="D6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kw in SQL_KEYWORDS:  features[f"sql_{kw}"] = 1 if kw in payload else 0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5000"/>
              </a:lnSpc>
              <a:buClrTx/>
              <a:buFontTx/>
              <a:buNone/>
            </a:pPr>
            <a:r>
              <a:rPr lang="en-US" sz="1000" kern="1200" dirty="0">
                <a:solidFill>
                  <a:srgbClr val="D6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kw in XSS_KEYWORDS:  features[f"xss_{kw}"] = 1 if kw in payload else 0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B36CFF-0989-4007-8B29-05AB8E52D476}"/>
              </a:ext>
            </a:extLst>
          </p:cNvPr>
          <p:cNvSpPr txBox="1"/>
          <p:nvPr/>
        </p:nvSpPr>
        <p:spPr>
          <a:xfrm>
            <a:off x="5498834" y="1390891"/>
            <a:ext cx="34913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tabLst/>
              <a:defRPr/>
            </a:pPr>
            <a:r>
              <a:rPr kumimoji="0" lang="fa-I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  <a:sym typeface="Advent Pro"/>
              </a:rPr>
              <a:t>در این مرحله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  <a:sym typeface="Advent Pro"/>
              </a:rPr>
              <a:t>Payload</a:t>
            </a:r>
            <a:r>
              <a:rPr kumimoji="0" lang="fa-I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  <a:sym typeface="Advent Pro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  <a:sym typeface="Advent Pro"/>
              </a:rPr>
              <a:t> </a:t>
            </a:r>
            <a:r>
              <a:rPr kumimoji="0" lang="fa-I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  <a:sym typeface="Advent Pro"/>
              </a:rPr>
              <a:t>خام به مجموعه‌ای از ویژگی‌های قابل استفاده برای مدل تبدیل می‌شود.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3726180" y="157432"/>
            <a:ext cx="4763589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Pipeline </a:t>
            </a: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آموزش و </a:t>
            </a: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Inference</a:t>
            </a:r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917333" y="2469715"/>
            <a:ext cx="7717500" cy="26354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Training </a:t>
            </a:r>
            <a:r>
              <a:rPr lang="fa-IR" sz="18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--آموزش مدل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 → Feature Extraction → DictVectorizer → Logistic Regression → Saved Model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ml/train.py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ویژگی‌های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استخراج شده و مدل‌های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آموزش داده و ذخیره می‌شوند.</a:t>
            </a:r>
          </a:p>
          <a:p>
            <a:pPr marL="0" lvl="0" indent="0" algn="r" rtl="1"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buNone/>
            </a:pPr>
            <a:r>
              <a:rPr lang="fa-IR" sz="18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استفاده از مدل </a:t>
            </a:r>
            <a:r>
              <a:rPr lang="en-US" sz="18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Inference </a:t>
            </a:r>
            <a:endParaRPr lang="fa-IR" sz="18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New Request → Feature Extraction → Trained Model → predict_proba() → Decision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زمان اجرای 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WAF،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مدل ذخیره‌شده برای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جدید احتمال تعلق آن به کلاس حمله را محاسبه می‌کند.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Training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یادگیری پارامترهای مدل از داده‌های آموزشی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Inference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استفاده از مدل آموزش‌دیده برای پیش‌بینی روی داده جدید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03215-0F03-443E-A5BC-6737B3F9F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721264"/>
            <a:ext cx="8245929" cy="168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9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2" name="Google Shape;32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55884" y="743801"/>
            <a:ext cx="4502198" cy="29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3" name="Google Shape;320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3735" y="261868"/>
            <a:ext cx="1602225" cy="1148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4" name="Google Shape;3204;p41"/>
          <p:cNvGrpSpPr/>
          <p:nvPr/>
        </p:nvGrpSpPr>
        <p:grpSpPr>
          <a:xfrm>
            <a:off x="642904" y="1367691"/>
            <a:ext cx="2227588" cy="726522"/>
            <a:chOff x="3620725" y="372750"/>
            <a:chExt cx="1039375" cy="338989"/>
          </a:xfrm>
        </p:grpSpPr>
        <p:sp>
          <p:nvSpPr>
            <p:cNvPr id="3205" name="Google Shape;3205;p41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06" name="Google Shape;3206;p41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07" name="Google Shape;3207;p41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08" name="Google Shape;3208;p41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09" name="Google Shape;3209;p41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0" name="Google Shape;3210;p41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1" name="Google Shape;3211;p41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2" name="Google Shape;3212;p41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3" name="Google Shape;3213;p41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4" name="Google Shape;3214;p41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5" name="Google Shape;3215;p41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6" name="Google Shape;3216;p41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7" name="Google Shape;3217;p41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8" name="Google Shape;3218;p41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19" name="Google Shape;3219;p41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0" name="Google Shape;3220;p41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1" name="Google Shape;3221;p41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2" name="Google Shape;3222;p41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3" name="Google Shape;3223;p41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4" name="Google Shape;3224;p41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5" name="Google Shape;3225;p41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6" name="Google Shape;3226;p41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7" name="Google Shape;3227;p41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8" name="Google Shape;3228;p41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29" name="Google Shape;3229;p41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0" name="Google Shape;3230;p41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1" name="Google Shape;3231;p41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2" name="Google Shape;3232;p41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3" name="Google Shape;3233;p41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4" name="Google Shape;3234;p41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5" name="Google Shape;3235;p41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6" name="Google Shape;3236;p41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7" name="Google Shape;3237;p41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8" name="Google Shape;3238;p41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39" name="Google Shape;3239;p41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40" name="Google Shape;3240;p41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41" name="Google Shape;3241;p41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</p:grpSp>
      <p:grpSp>
        <p:nvGrpSpPr>
          <p:cNvPr id="3258" name="Google Shape;3258;p41"/>
          <p:cNvGrpSpPr/>
          <p:nvPr/>
        </p:nvGrpSpPr>
        <p:grpSpPr>
          <a:xfrm>
            <a:off x="1326703" y="3305460"/>
            <a:ext cx="2227589" cy="726958"/>
            <a:chOff x="6972150" y="711750"/>
            <a:chExt cx="1039375" cy="339193"/>
          </a:xfrm>
        </p:grpSpPr>
        <p:sp>
          <p:nvSpPr>
            <p:cNvPr id="3259" name="Google Shape;3259;p41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0" name="Google Shape;3260;p41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1" name="Google Shape;3261;p41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2" name="Google Shape;3262;p41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3" name="Google Shape;3263;p41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4" name="Google Shape;3264;p41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5" name="Google Shape;3265;p41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6" name="Google Shape;3266;p41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7" name="Google Shape;3267;p41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8" name="Google Shape;3268;p41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69" name="Google Shape;3269;p41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0" name="Google Shape;3270;p41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1" name="Google Shape;3271;p41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2" name="Google Shape;3272;p41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3" name="Google Shape;3273;p41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4" name="Google Shape;3274;p41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5" name="Google Shape;3275;p41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6" name="Google Shape;3276;p41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7" name="Google Shape;3277;p41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8" name="Google Shape;3278;p41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79" name="Google Shape;3279;p41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0" name="Google Shape;3280;p41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1" name="Google Shape;3281;p41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2" name="Google Shape;3282;p41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3" name="Google Shape;3283;p41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4" name="Google Shape;3284;p41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5" name="Google Shape;3285;p41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6" name="Google Shape;3286;p41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7" name="Google Shape;3287;p41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8" name="Google Shape;3288;p41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3289" name="Google Shape;3289;p41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</p:grpSp>
      <p:pic>
        <p:nvPicPr>
          <p:cNvPr id="3290" name="Google Shape;329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711" y="1166137"/>
            <a:ext cx="2685015" cy="281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1" name="Google Shape;329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0901" y="1225318"/>
            <a:ext cx="709250" cy="112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2" name="Google Shape;3292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0645" y="1001707"/>
            <a:ext cx="981245" cy="124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293" name="Google Shape;3293;p41"/>
          <p:cNvSpPr/>
          <p:nvPr/>
        </p:nvSpPr>
        <p:spPr>
          <a:xfrm>
            <a:off x="2839762" y="773269"/>
            <a:ext cx="126000" cy="126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3297" name="Google Shape;3297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59625" y="3277025"/>
            <a:ext cx="1006125" cy="1327069"/>
          </a:xfrm>
          <a:prstGeom prst="rect">
            <a:avLst/>
          </a:prstGeom>
          <a:noFill/>
          <a:ln>
            <a:noFill/>
          </a:ln>
        </p:spPr>
      </p:pic>
      <p:sp>
        <p:nvSpPr>
          <p:cNvPr id="3298" name="Google Shape;3298;p41"/>
          <p:cNvSpPr txBox="1">
            <a:spLocks noGrp="1"/>
          </p:cNvSpPr>
          <p:nvPr>
            <p:ph type="title"/>
          </p:nvPr>
        </p:nvSpPr>
        <p:spPr>
          <a:xfrm>
            <a:off x="3499164" y="350746"/>
            <a:ext cx="3916412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8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آستانه تصمیم </a:t>
            </a:r>
            <a:r>
              <a:rPr lang="en-US" sz="48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endParaRPr sz="48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3299" name="Google Shape;3299;p41"/>
          <p:cNvSpPr txBox="1">
            <a:spLocks noGrp="1"/>
          </p:cNvSpPr>
          <p:nvPr>
            <p:ph type="subTitle" idx="1"/>
          </p:nvPr>
        </p:nvSpPr>
        <p:spPr>
          <a:xfrm>
            <a:off x="3838809" y="1507089"/>
            <a:ext cx="4592216" cy="3393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مدل با استفاده از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predict_proba()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احتمال تعلق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Payload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 کلاس حمله را محاسبه می‌کند.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پیاده‌سازی فعلی:</a:t>
            </a: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Probability ≥ 0.7 → </a:t>
            </a:r>
            <a:endParaRPr lang="fa-IR"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BLOCK</a:t>
            </a:r>
            <a:endParaRPr lang="fa-IR"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Probability &lt; 0.7 → </a:t>
            </a:r>
            <a:endParaRPr lang="fa-IR"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عدم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Block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توسط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endParaRPr lang="fa-IR"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عدد 0.7 یک انتخاب طراحی در این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Prototype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 و با یک فرآیند مستقل برای تعیین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Threshold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بهینه آماری انتخاب نشده است.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بنابراین این مقدار به‌عنوان بهترین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Threshold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معرفی نمی‌شود.</a:t>
            </a:r>
            <a:endParaRPr sz="16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5111657" y="257542"/>
            <a:ext cx="3134987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 </a:t>
            </a: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آموزشی</a:t>
            </a:r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601644" y="865506"/>
            <a:ext cx="7717500" cy="483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مدل‌های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با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های مصنوعی تولیدشده برای پروژه آموزش داده شده‌اند.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5" name="Google Shape;5138;p74">
            <a:extLst>
              <a:ext uri="{FF2B5EF4-FFF2-40B4-BE49-F238E27FC236}">
                <a16:creationId xmlns:a16="http://schemas.microsoft.com/office/drawing/2014/main" id="{2F3F9A65-CE5D-4178-8EC9-5AF97AAFBD1B}"/>
              </a:ext>
            </a:extLst>
          </p:cNvPr>
          <p:cNvSpPr txBox="1">
            <a:spLocks/>
          </p:cNvSpPr>
          <p:nvPr/>
        </p:nvSpPr>
        <p:spPr>
          <a:xfrm>
            <a:off x="713250" y="2757950"/>
            <a:ext cx="7717500" cy="2072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>
              <a:buFont typeface="Advent Pro"/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محدودیت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endParaRPr lang="fa-IR" sz="16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Font typeface="Advent Pro"/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داده‌ها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Synthetic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هستند و از ترافیک واقعی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Production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جمع‌آوری نشده‌اند.در طول توسعه، پس از مشاهده رفتار سیستم، نمونه‌های معمولی متنوع‌تری اضافه و مدل‌ها مجدداً آموزش داده شدند.</a:t>
            </a:r>
          </a:p>
          <a:p>
            <a:pPr marL="0" indent="0" algn="r" rtl="1">
              <a:buFont typeface="Advent Pro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Font typeface="Advent Pro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Font typeface="Advent Pro"/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Font typeface="Advent Pro"/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فرآیند توسعه:</a:t>
            </a:r>
          </a:p>
          <a:p>
            <a:pPr marL="0" indent="0" algn="r" rtl="1">
              <a:buFont typeface="Advent Pro"/>
              <a:buNone/>
            </a:pPr>
            <a:endParaRPr lang="fa-IR" sz="1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>
              <a:buFont typeface="Advent Pro"/>
              <a:buNone/>
            </a:pP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Test →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مشاهده ضعف → افزودن نمونه →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Retraining → Test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مجدد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DA05AB-64B1-4300-A660-3DCD6F66D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44" y="1580172"/>
            <a:ext cx="7470058" cy="94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0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240030"/>
            <a:ext cx="8318754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5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سناریوی تست زنده</a:t>
            </a:r>
            <a:endParaRPr lang="en-US" sz="22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0060" y="2125980"/>
            <a:ext cx="1440180" cy="617220"/>
          </a:xfrm>
          <a:prstGeom prst="roundRect">
            <a:avLst>
              <a:gd name="adj" fmla="val 8889"/>
            </a:avLst>
          </a:prstGeom>
          <a:solidFill>
            <a:srgbClr val="132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" y="2125980"/>
            <a:ext cx="14401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Browser</a:t>
            </a:r>
            <a:endParaRPr lang="en-US" sz="9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40030" y="2125980"/>
            <a:ext cx="24003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22D3E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→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60270" y="2125980"/>
            <a:ext cx="1440180" cy="617220"/>
          </a:xfrm>
          <a:prstGeom prst="roundRect">
            <a:avLst>
              <a:gd name="adj" fmla="val 8889"/>
            </a:avLst>
          </a:prstGeom>
          <a:solidFill>
            <a:srgbClr val="132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0270" y="2125980"/>
            <a:ext cx="14401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localhost:5000</a:t>
            </a:r>
            <a:endParaRPr lang="en-US" sz="9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920240" y="2125980"/>
            <a:ext cx="24003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22D3E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→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2125980"/>
            <a:ext cx="1440180" cy="617220"/>
          </a:xfrm>
          <a:prstGeom prst="roundRect">
            <a:avLst>
              <a:gd name="adj" fmla="val 8889"/>
            </a:avLst>
          </a:prstGeom>
          <a:solidFill>
            <a:srgbClr val="132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2125980"/>
            <a:ext cx="14401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endParaRPr lang="en-US" sz="9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00450" y="2125980"/>
            <a:ext cx="24003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22D3E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→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20690" y="2125980"/>
            <a:ext cx="1440180" cy="617220"/>
          </a:xfrm>
          <a:prstGeom prst="roundRect">
            <a:avLst>
              <a:gd name="adj" fmla="val 8889"/>
            </a:avLst>
          </a:prstGeom>
          <a:solidFill>
            <a:srgbClr val="132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20690" y="2125980"/>
            <a:ext cx="14401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Detection</a:t>
            </a:r>
            <a:endParaRPr lang="en-US" sz="9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280660" y="2125980"/>
            <a:ext cx="24003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22D3E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→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00900" y="2125980"/>
            <a:ext cx="1440180" cy="61722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00900" y="2125980"/>
            <a:ext cx="14401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ALLOW / BLOCK</a:t>
            </a:r>
            <a:endParaRPr lang="en-US" sz="9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28700" y="3154680"/>
            <a:ext cx="7063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EAF2F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چهار درخواست واقعی به سرور در حال اجرا ارسال می‌شود؛ نتیجه هرکدام بلافاصله در ترمینال و داشبورد دیده می‌شود.</a:t>
            </a:r>
            <a:endParaRPr lang="en-US" sz="112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240030"/>
            <a:ext cx="8318754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 ۱ و ۲: حملات Rule-Based</a:t>
            </a:r>
            <a:endParaRPr lang="en-US" sz="2250" dirty="0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131570"/>
            <a:ext cx="8318754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7220" y="1234440"/>
            <a:ext cx="78867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25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localhost:5000/?id=1' OR 1=1 --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789420" y="1645920"/>
            <a:ext cx="1371600" cy="240030"/>
          </a:xfrm>
          <a:prstGeom prst="roundRect">
            <a:avLst>
              <a:gd name="adj" fmla="val 22857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89420" y="164592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617220" y="1645920"/>
            <a:ext cx="60350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/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SQLInjectionDetector </a:t>
            </a:r>
            <a:r>
              <a:rPr lang="fa-IR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الگوی </a:t>
            </a:r>
            <a:r>
              <a:rPr lang="en-US" sz="101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Boolean-based + Comment</a:t>
            </a:r>
            <a:endParaRPr lang="en-US" sz="1013" dirty="0"/>
          </a:p>
        </p:txBody>
      </p:sp>
      <p:sp>
        <p:nvSpPr>
          <p:cNvPr id="9" name="Shape 7"/>
          <p:cNvSpPr/>
          <p:nvPr/>
        </p:nvSpPr>
        <p:spPr>
          <a:xfrm>
            <a:off x="411480" y="2434590"/>
            <a:ext cx="8318754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" y="2537460"/>
            <a:ext cx="78867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25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localhost:5000/?q=&lt;script&gt;alert(1)&lt;/script&gt;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789420" y="2948940"/>
            <a:ext cx="1371600" cy="240030"/>
          </a:xfrm>
          <a:prstGeom prst="roundRect">
            <a:avLst>
              <a:gd name="adj" fmla="val 22857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89420" y="294894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17220" y="2948940"/>
            <a:ext cx="60350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/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XSSDetector</a:t>
            </a:r>
            <a:r>
              <a:rPr lang="fa-IR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تگ </a:t>
            </a:r>
            <a:r>
              <a:rPr lang="en-US" sz="101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&lt;script&gt; شناخته‌شده</a:t>
            </a:r>
            <a:endParaRPr lang="en-US" sz="1013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240030"/>
            <a:ext cx="8318754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5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تست ۳ و ۴: تشخیص ML و یک درخواست سالم</a:t>
            </a:r>
            <a:endParaRPr lang="en-US" sz="225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131570"/>
            <a:ext cx="8318754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7220" y="1234440"/>
            <a:ext cx="78867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25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localhost:5000/?u=admin'--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789420" y="1645920"/>
            <a:ext cx="1371600" cy="24003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89420" y="164592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617220" y="1645920"/>
            <a:ext cx="60350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/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</a:t>
            </a:r>
            <a:r>
              <a:rPr lang="en-US" sz="101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(ML-Based)</a:t>
            </a:r>
            <a:endParaRPr lang="en-US" sz="1013" dirty="0"/>
          </a:p>
        </p:txBody>
      </p:sp>
      <p:sp>
        <p:nvSpPr>
          <p:cNvPr id="9" name="Shape 7"/>
          <p:cNvSpPr/>
          <p:nvPr/>
        </p:nvSpPr>
        <p:spPr>
          <a:xfrm>
            <a:off x="411480" y="2434590"/>
            <a:ext cx="8318754" cy="113157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" y="2537460"/>
            <a:ext cx="78867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25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localhost:5000/?search=book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789420" y="2948940"/>
            <a:ext cx="1371600" cy="24003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89420" y="294894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17220" y="2948940"/>
            <a:ext cx="60350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/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 Rule</a:t>
            </a:r>
            <a:r>
              <a:rPr lang="fa-IR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 ML</a:t>
            </a:r>
            <a:r>
              <a:rPr lang="fa-IR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چیزی مشکوک نمی‌یابند — درخواست 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 Backend</a:t>
            </a:r>
            <a:r>
              <a:rPr lang="fa-IR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می‌رسد</a:t>
            </a:r>
            <a:endParaRPr lang="en-US" sz="1013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0" name="Google Shape;4470;p61"/>
          <p:cNvSpPr txBox="1">
            <a:spLocks noGrp="1"/>
          </p:cNvSpPr>
          <p:nvPr>
            <p:ph type="title"/>
          </p:nvPr>
        </p:nvSpPr>
        <p:spPr>
          <a:xfrm>
            <a:off x="1283930" y="1215569"/>
            <a:ext cx="3000711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Dashboard </a:t>
            </a:r>
            <a:r>
              <a:rPr lang="fa-IR" sz="24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چگونه داده دریافت می‌کند؟</a:t>
            </a:r>
            <a:endParaRPr sz="24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471" name="Google Shape;4471;p61"/>
          <p:cNvSpPr txBox="1">
            <a:spLocks noGrp="1"/>
          </p:cNvSpPr>
          <p:nvPr>
            <p:ph type="subTitle" idx="1"/>
          </p:nvPr>
        </p:nvSpPr>
        <p:spPr>
          <a:xfrm>
            <a:off x="107156" y="2639238"/>
            <a:ext cx="5062121" cy="2038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رویدادهای ثبت‌شده توسط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waf.log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ذخیره می‌شوند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.سپس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API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موجود 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dashboard_api.py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اطلاعات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Log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را در اختیار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Dashboard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قرار می‌دهند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fa-IR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.بنابراین اطلاعات نمایش‌داده‌شده در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Dashboard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حاصل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Logging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واقعی سیستم است.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6D34E-3C74-4081-8A07-51B5C1241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530" y="725787"/>
            <a:ext cx="2736482" cy="3717626"/>
          </a:xfrm>
          <a:prstGeom prst="rect">
            <a:avLst/>
          </a:prstGeom>
        </p:spPr>
      </p:pic>
      <p:grpSp>
        <p:nvGrpSpPr>
          <p:cNvPr id="4472" name="Google Shape;4472;p61"/>
          <p:cNvGrpSpPr/>
          <p:nvPr/>
        </p:nvGrpSpPr>
        <p:grpSpPr>
          <a:xfrm>
            <a:off x="5562184" y="539412"/>
            <a:ext cx="3000711" cy="4064752"/>
            <a:chOff x="2641950" y="3481825"/>
            <a:chExt cx="469125" cy="635475"/>
          </a:xfrm>
        </p:grpSpPr>
        <p:sp>
          <p:nvSpPr>
            <p:cNvPr id="4473" name="Google Shape;4473;p61"/>
            <p:cNvSpPr/>
            <p:nvPr/>
          </p:nvSpPr>
          <p:spPr>
            <a:xfrm>
              <a:off x="2641950" y="3481825"/>
              <a:ext cx="469125" cy="635475"/>
            </a:xfrm>
            <a:custGeom>
              <a:avLst/>
              <a:gdLst/>
              <a:ahLst/>
              <a:cxnLst/>
              <a:rect l="l" t="t" r="r" b="b"/>
              <a:pathLst>
                <a:path w="18765" h="25419" extrusionOk="0">
                  <a:moveTo>
                    <a:pt x="17861" y="1055"/>
                  </a:moveTo>
                  <a:lnTo>
                    <a:pt x="17861" y="24364"/>
                  </a:lnTo>
                  <a:lnTo>
                    <a:pt x="896" y="24364"/>
                  </a:lnTo>
                  <a:lnTo>
                    <a:pt x="896" y="1055"/>
                  </a:lnTo>
                  <a:close/>
                  <a:moveTo>
                    <a:pt x="419" y="1"/>
                  </a:moveTo>
                  <a:cubicBezTo>
                    <a:pt x="185" y="1"/>
                    <a:pt x="1" y="193"/>
                    <a:pt x="1" y="428"/>
                  </a:cubicBezTo>
                  <a:lnTo>
                    <a:pt x="1" y="24992"/>
                  </a:lnTo>
                  <a:cubicBezTo>
                    <a:pt x="1" y="25226"/>
                    <a:pt x="185" y="25418"/>
                    <a:pt x="419" y="25418"/>
                  </a:cubicBezTo>
                  <a:lnTo>
                    <a:pt x="18338" y="25418"/>
                  </a:lnTo>
                  <a:cubicBezTo>
                    <a:pt x="18572" y="25418"/>
                    <a:pt x="18764" y="25226"/>
                    <a:pt x="18764" y="24992"/>
                  </a:cubicBezTo>
                  <a:lnTo>
                    <a:pt x="18764" y="428"/>
                  </a:lnTo>
                  <a:cubicBezTo>
                    <a:pt x="18764" y="193"/>
                    <a:pt x="18572" y="1"/>
                    <a:pt x="1833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74" name="Google Shape;4474;p61"/>
            <p:cNvSpPr/>
            <p:nvPr/>
          </p:nvSpPr>
          <p:spPr>
            <a:xfrm>
              <a:off x="2872325" y="3491050"/>
              <a:ext cx="8175" cy="7975"/>
            </a:xfrm>
            <a:custGeom>
              <a:avLst/>
              <a:gdLst/>
              <a:ahLst/>
              <a:cxnLst/>
              <a:rect l="l" t="t" r="r" b="b"/>
              <a:pathLst>
                <a:path w="327" h="319" extrusionOk="0">
                  <a:moveTo>
                    <a:pt x="168" y="0"/>
                  </a:moveTo>
                  <a:cubicBezTo>
                    <a:pt x="75" y="0"/>
                    <a:pt x="0" y="76"/>
                    <a:pt x="0" y="159"/>
                  </a:cubicBezTo>
                  <a:cubicBezTo>
                    <a:pt x="0" y="251"/>
                    <a:pt x="75" y="318"/>
                    <a:pt x="168" y="318"/>
                  </a:cubicBezTo>
                  <a:cubicBezTo>
                    <a:pt x="251" y="318"/>
                    <a:pt x="327" y="251"/>
                    <a:pt x="327" y="159"/>
                  </a:cubicBezTo>
                  <a:cubicBezTo>
                    <a:pt x="327" y="76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</p:grpSp>
      <p:pic>
        <p:nvPicPr>
          <p:cNvPr id="4475" name="Google Shape;447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302" y="402375"/>
            <a:ext cx="562275" cy="40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6" name="Google Shape;447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903" y="1423755"/>
            <a:ext cx="1422744" cy="7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7" name="Google Shape;4477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3440" y="883730"/>
            <a:ext cx="860795" cy="929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8" name="Google Shape;447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0801" y="355399"/>
            <a:ext cx="1092950" cy="78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3436375" y="257542"/>
            <a:ext cx="481027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روش ارزیابی: مجموعه تست مستقل</a:t>
            </a:r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601644" y="865506"/>
            <a:ext cx="7717500" cy="483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برای اینکه عملکرد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WAF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فقط با چند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Demo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نشان داده نشود، یک مجموعه تست مستقل از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آموزشی ایجاد و اجرا شد.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5" name="Google Shape;5138;p74">
            <a:extLst>
              <a:ext uri="{FF2B5EF4-FFF2-40B4-BE49-F238E27FC236}">
                <a16:creationId xmlns:a16="http://schemas.microsoft.com/office/drawing/2014/main" id="{2F3F9A65-CE5D-4178-8EC9-5AF97AAFBD1B}"/>
              </a:ext>
            </a:extLst>
          </p:cNvPr>
          <p:cNvSpPr txBox="1">
            <a:spLocks/>
          </p:cNvSpPr>
          <p:nvPr/>
        </p:nvSpPr>
        <p:spPr>
          <a:xfrm>
            <a:off x="772244" y="3129589"/>
            <a:ext cx="7717500" cy="1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>
              <a:buFont typeface="Advent Pro"/>
              <a:buNone/>
            </a:pPr>
            <a:r>
              <a:rPr lang="fa-IR" sz="24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جداسازی داده‌ها</a:t>
            </a:r>
          </a:p>
          <a:p>
            <a:pPr marL="0" indent="0" algn="r" rtl="1">
              <a:buFont typeface="Advent Pro"/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مجموعه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evaluation/test_dataset.csv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با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آموزشی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sql.csv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xss.csv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همپوشانی ندارد</a:t>
            </a:r>
          </a:p>
          <a:p>
            <a:pPr marL="0" indent="0" algn="r" rtl="1">
              <a:buFont typeface="Advent Pro"/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.تمام ۱۱۹ نمونه واقعاً از:</a:t>
            </a:r>
          </a:p>
          <a:p>
            <a:pPr marL="0" indent="0" algn="r" rtl="1">
              <a:buFont typeface="Advent Pro"/>
              <a:buNone/>
            </a:pP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HybridEngine.inspect()</a:t>
            </a:r>
            <a:endParaRPr lang="fa-IR" sz="16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>
              <a:buFont typeface="Advent Pro"/>
              <a:buNone/>
            </a:pP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عبور داده شدند و خروجی سیستم با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Label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واقعی مقایسه شد.</a:t>
            </a:r>
          </a:p>
          <a:p>
            <a:pPr marL="0" indent="0" algn="r" rtl="1">
              <a:buFont typeface="Advent Pro"/>
              <a:buNone/>
            </a:pP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Metrics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نیز توسط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calculate_metrics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evaluation/metrics.py </a:t>
            </a:r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محاسبه شدند.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727E16-4007-4A72-B678-D4F466D47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43" y="1562970"/>
            <a:ext cx="7749873" cy="117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240030"/>
            <a:ext cx="8318754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B Badr" panose="00000400000000000000" pitchFamily="2" charset="-78"/>
              </a:rPr>
              <a:t>نتایج واقعی ارزیابی</a:t>
            </a:r>
            <a:endParaRPr lang="en-US" sz="3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Badr" panose="00000400000000000000" pitchFamily="2" charset="-78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33341088"/>
              </p:ext>
            </p:extLst>
          </p:nvPr>
        </p:nvGraphicFramePr>
        <p:xfrm>
          <a:off x="161449" y="857250"/>
          <a:ext cx="50063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37799" y="933893"/>
            <a:ext cx="1677351" cy="952057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2023" y="887091"/>
            <a:ext cx="2684621" cy="660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FP</a:t>
            </a:r>
            <a:endParaRPr lang="en-US" sz="2550" dirty="0"/>
          </a:p>
        </p:txBody>
      </p:sp>
      <p:sp>
        <p:nvSpPr>
          <p:cNvPr id="7" name="Text 4"/>
          <p:cNvSpPr txBox="1"/>
          <p:nvPr/>
        </p:nvSpPr>
        <p:spPr>
          <a:xfrm>
            <a:off x="4752023" y="1360293"/>
            <a:ext cx="2684621" cy="420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روی ۵۲</a:t>
            </a:r>
            <a:r>
              <a:rPr lang="fa-IR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درخواست معمولی</a:t>
            </a:r>
            <a:endParaRPr lang="en-US" sz="900" dirty="0"/>
          </a:p>
          <a:p>
            <a:pPr algn="ctr" rtl="1"/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 = 0.00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95187" y="888438"/>
            <a:ext cx="1677351" cy="998859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39414" y="941742"/>
            <a:ext cx="2684621" cy="660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FN</a:t>
            </a:r>
            <a:endParaRPr lang="en-US" sz="2550" dirty="0"/>
          </a:p>
        </p:txBody>
      </p:sp>
      <p:sp>
        <p:nvSpPr>
          <p:cNvPr id="10" name="Text 7"/>
          <p:cNvSpPr txBox="1"/>
          <p:nvPr/>
        </p:nvSpPr>
        <p:spPr>
          <a:xfrm>
            <a:off x="7063025" y="1333463"/>
            <a:ext cx="2037397" cy="420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۶۷</a:t>
            </a:r>
            <a:r>
              <a:rPr lang="fa-IR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حمله — همه از </a:t>
            </a:r>
            <a:r>
              <a:rPr lang="en-US" sz="9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SQL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237799" y="1966172"/>
            <a:ext cx="3564730" cy="3177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fa-IR" sz="24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از مجموع ۱۱۹ نمونه مستقل:</a:t>
            </a:r>
          </a:p>
          <a:p>
            <a:pPr algn="r" rtl="1"/>
            <a:endParaRPr lang="fa-IR" sz="200" b="1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fa-IR" sz="18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ترافیک معمولی</a:t>
            </a:r>
          </a:p>
          <a:p>
            <a:pPr algn="r" rtl="1"/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۵۲ / ۵۲ صحیحاً </a:t>
            </a:r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ALLOW</a:t>
            </a:r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 </a:t>
            </a:r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شدند</a:t>
            </a:r>
            <a:endParaRPr lang="fa-IR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False Positive = 0</a:t>
            </a:r>
            <a:endParaRPr lang="en-US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False Positive Rate = 0.00</a:t>
            </a:r>
            <a:endParaRPr lang="en-US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endParaRPr lang="fa-IR" sz="600" b="1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fa-IR" sz="20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حملات</a:t>
            </a:r>
          </a:p>
          <a:p>
            <a:pPr algn="r" rtl="1"/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۶۱ / ۶۷ صحیحاً </a:t>
            </a:r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BLOCK</a:t>
            </a:r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شدند</a:t>
            </a:r>
            <a:endParaRPr lang="fa-IR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fa-IR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۶ مورد </a:t>
            </a:r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False Negative</a:t>
            </a:r>
            <a:endParaRPr lang="en-US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هر ۶ مورد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False Negative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مربوط به </a:t>
            </a:r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بودند.</a:t>
            </a:r>
          </a:p>
          <a:p>
            <a:pPr algn="r" rtl="1"/>
            <a:endParaRPr lang="fa-IR" sz="3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en-US" sz="18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Metrics </a:t>
            </a:r>
            <a:r>
              <a:rPr lang="fa-IR" sz="18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کلی</a:t>
            </a:r>
          </a:p>
          <a:p>
            <a:pPr algn="r" rtl="1"/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Precision = 1.00</a:t>
            </a:r>
            <a:endParaRPr lang="en-US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Recall = 0.91</a:t>
            </a:r>
            <a:endParaRPr lang="en-US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en-US" sz="12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F1-Score = 0.95</a:t>
            </a:r>
            <a:endParaRPr lang="en-US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l" rtl="1"/>
            <a:r>
              <a:rPr lang="en-US" sz="1050" i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)</a:t>
            </a:r>
            <a:endParaRPr lang="en-US" sz="105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240030"/>
            <a:ext cx="8318754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تحلیل موارد از‌دست‌رفته (Failure Analysis)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60095"/>
            <a:ext cx="8318754" cy="65151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2930" y="760095"/>
            <a:ext cx="246888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05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admin' #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154680" y="760095"/>
            <a:ext cx="541782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13" dirty="0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یک نشانه (# Comment) به‌تنهایی به آستانه ۰.۵ نمی‌رسد</a:t>
            </a:r>
            <a:endParaRPr lang="en-US" sz="1013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59611"/>
            <a:ext cx="8318754" cy="651510"/>
          </a:xfrm>
          <a:prstGeom prst="roundRect">
            <a:avLst>
              <a:gd name="adj" fmla="val 6316"/>
            </a:avLst>
          </a:prstGeom>
          <a:solidFill>
            <a:srgbClr val="EFF6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2930" y="1459611"/>
            <a:ext cx="246888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05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1 AND 1=1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154680" y="1459611"/>
            <a:ext cx="541782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13" dirty="0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مشابه بالا؛ فقط یک الگوی Boolean-based فعال می‌شود</a:t>
            </a:r>
            <a:endParaRPr lang="en-US" sz="1013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159127"/>
            <a:ext cx="8318754" cy="65151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930" y="2159127"/>
            <a:ext cx="246888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05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SeLeCt * FrOm users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154680" y="2159127"/>
            <a:ext cx="541782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13" dirty="0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بدون کوتیشن/UNION/کامنت — از نظر نحوی شبیه یک کوئری عادی است</a:t>
            </a:r>
            <a:endParaRPr lang="en-US" sz="1013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858643"/>
            <a:ext cx="8318754" cy="651510"/>
          </a:xfrm>
          <a:prstGeom prst="roundRect">
            <a:avLst>
              <a:gd name="adj" fmla="val 6316"/>
            </a:avLst>
          </a:prstGeom>
          <a:solidFill>
            <a:srgbClr val="EFF6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2930" y="2858643"/>
            <a:ext cx="246888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05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1/**/OR/**/1=1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154680" y="2858643"/>
            <a:ext cx="541782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13" dirty="0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تکنیک شناخته‌شده دور زدن WAF: کامنت خالی به‌جای فاصله واقعی، الگوی </a:t>
            </a:r>
            <a:r>
              <a:rPr lang="en-US" sz="1013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Regex </a:t>
            </a:r>
            <a:r>
              <a:rPr lang="fa-IR" sz="1013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13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را </a:t>
            </a:r>
            <a:r>
              <a:rPr lang="en-US" sz="1013" dirty="0">
                <a:solidFill>
                  <a:srgbClr val="0F294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رد می‌کند</a:t>
            </a:r>
            <a:endParaRPr lang="en-US" sz="1013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11480" y="3558159"/>
            <a:ext cx="8318754" cy="1471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Precision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:از میان مواردی که سیستم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Attack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تشخیص داده، چند مورد واقعاً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Attack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بوده‌اند؟</a:t>
            </a:r>
          </a:p>
          <a:p>
            <a:pPr algn="r" rtl="1"/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Recall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:از میان تمام 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Attack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های موجود، چند مورد توسط سیستم شناسایی شده‌اند؟</a:t>
            </a:r>
          </a:p>
          <a:p>
            <a:pPr algn="r" rtl="1"/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F1-Score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:میانگین هارمونیک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Precision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Recall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 و عملکرد این دو معیار را به‌صورت همزمان خلاصه می‌کند</a:t>
            </a:r>
          </a:p>
          <a:p>
            <a:pPr algn="r" rtl="1"/>
            <a:endParaRPr lang="fa-IR" sz="120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fa-IR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برداشت از نتایج این تست در مجموعه ارزیابی:</a:t>
            </a:r>
          </a:p>
          <a:p>
            <a:pPr algn="r" rtl="1"/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False Positive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مشاهده نشد؛ در مقابل، تعدادی از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ها شناسایی نشدند.</a:t>
            </a:r>
            <a:endParaRPr lang="en-US" sz="1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240030"/>
            <a:ext cx="8318754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5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محدودیت‌های شناخته‌شده و مسیر توسعه</a:t>
            </a:r>
            <a:endParaRPr lang="en-US" sz="225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42287" y="1062990"/>
            <a:ext cx="3977640" cy="2542167"/>
          </a:xfrm>
          <a:prstGeom prst="roundRect">
            <a:avLst>
              <a:gd name="adj" fmla="val 1633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48027" y="1200150"/>
            <a:ext cx="35661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75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محدودیت‌های فعلی</a:t>
            </a:r>
            <a:endParaRPr lang="en-US" sz="12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062990"/>
            <a:ext cx="3977640" cy="2542167"/>
          </a:xfrm>
          <a:prstGeom prst="roundRect">
            <a:avLst>
              <a:gd name="adj" fmla="val 1633"/>
            </a:avLst>
          </a:prstGeom>
          <a:solidFill>
            <a:srgbClr val="E8F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" y="1200150"/>
            <a:ext cx="35661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75" b="1" dirty="0">
                <a:solidFill>
                  <a:srgbClr val="02809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مسیر توسعه آینده</a:t>
            </a:r>
            <a:endParaRPr lang="en-US" sz="1275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48027" y="1543051"/>
            <a:ext cx="3566160" cy="2066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825"/>
              </a:spcAft>
            </a:pP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مصنوعی و با تنوع محدود است</a:t>
            </a: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برخی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Evasion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ها شناسایی نمی‌شوند</a:t>
            </a:r>
          </a:p>
          <a:p>
            <a:pPr algn="r" rtl="1">
              <a:spcAft>
                <a:spcPts val="825"/>
              </a:spcAft>
            </a:pP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HTTPS/TLS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کامل پیاده‌سازی نشده</a:t>
            </a:r>
          </a:p>
          <a:p>
            <a:pPr algn="r" rtl="1">
              <a:spcAft>
                <a:spcPts val="825"/>
              </a:spcAft>
            </a:pP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verify=False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Forward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فعلی وجود دارد</a:t>
            </a: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سرویس‌ها با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debug=True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اجرا می‌شوند</a:t>
            </a:r>
          </a:p>
          <a:p>
            <a:pPr algn="r" rtl="1">
              <a:spcAft>
                <a:spcPts val="825"/>
              </a:spcAft>
            </a:pP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Query String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در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Forward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فعلی حفظ نمی‌شود</a:t>
            </a: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مجموعه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Evaluation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محدود است</a:t>
            </a:r>
          </a:p>
          <a:p>
            <a:pPr algn="r" rtl="1">
              <a:spcAft>
                <a:spcPts val="825"/>
              </a:spcAft>
            </a:pPr>
            <a:endParaRPr lang="en-US" sz="1013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CE5CB70-983A-436A-86CE-754C0819C823}"/>
              </a:ext>
            </a:extLst>
          </p:cNvPr>
          <p:cNvSpPr txBox="1"/>
          <p:nvPr/>
        </p:nvSpPr>
        <p:spPr>
          <a:xfrm>
            <a:off x="617220" y="1538344"/>
            <a:ext cx="3566160" cy="2066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استفاده از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Dataset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متنوع‌تر و نزدیک‌تر به ترافیک واقعی</a:t>
            </a: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بهبود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Regex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Normalization</a:t>
            </a:r>
            <a:endParaRPr lang="fa-IR" sz="105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>
              <a:spcAft>
                <a:spcPts val="825"/>
              </a:spcAft>
            </a:pPr>
            <a:r>
              <a:rPr lang="fa-IR" sz="1013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اضافه‌کردن </a:t>
            </a:r>
            <a:r>
              <a:rPr lang="en-US" sz="1013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TLS</a:t>
            </a:r>
            <a:r>
              <a:rPr lang="fa-IR" sz="1013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13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13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013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Hardening</a:t>
            </a:r>
            <a:endParaRPr lang="fa-IR" sz="1013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حذف آن پیش از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Production</a:t>
            </a:r>
            <a:endParaRPr lang="fa-IR" sz="1013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غیرفعال‌کردن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Debug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Production</a:t>
            </a:r>
            <a:endParaRPr lang="fa-IR" sz="105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اصلاح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Forward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حفظ </a:t>
            </a:r>
            <a:r>
              <a:rPr lang="en-US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Query String</a:t>
            </a:r>
            <a:endParaRPr lang="fa-IR" sz="105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>
              <a:spcAft>
                <a:spcPts val="825"/>
              </a:spcAft>
            </a:pPr>
            <a:r>
              <a:rPr lang="fa-IR" sz="105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افزایش حجم و تنوع مجموعه تست مستقل</a:t>
            </a:r>
            <a:endParaRPr lang="en-US" sz="1013" dirty="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FE80AD1D-ED5A-4EFA-B578-FD751E5A3DD9}"/>
              </a:ext>
            </a:extLst>
          </p:cNvPr>
          <p:cNvSpPr txBox="1"/>
          <p:nvPr/>
        </p:nvSpPr>
        <p:spPr>
          <a:xfrm>
            <a:off x="835818" y="3471863"/>
            <a:ext cx="7894415" cy="1431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fa-IR" sz="24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وضعیت فعلی</a:t>
            </a:r>
          </a:p>
          <a:p>
            <a:pPr algn="r" rtl="1"/>
            <a:endParaRPr lang="fa-IR" sz="1200" b="1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algn="r" rtl="1"/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این سیستم یک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Functional Prototype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آزمایشگاهی است و برای استقرار </a:t>
            </a:r>
            <a:r>
              <a:rPr lang="en-US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Production، </a:t>
            </a:r>
            <a:r>
              <a:rPr lang="fa-IR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اصلاح موارد امنیتی و عملیاتی فوق ضروری است.</a:t>
            </a:r>
            <a:endParaRPr lang="en-US" sz="1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6" name="Google Shape;4366;p59"/>
          <p:cNvGrpSpPr/>
          <p:nvPr/>
        </p:nvGrpSpPr>
        <p:grpSpPr>
          <a:xfrm rot="5400000" flipH="1">
            <a:off x="1501053" y="1861698"/>
            <a:ext cx="2227589" cy="726958"/>
            <a:chOff x="6972150" y="711750"/>
            <a:chExt cx="1039375" cy="339193"/>
          </a:xfrm>
        </p:grpSpPr>
        <p:sp>
          <p:nvSpPr>
            <p:cNvPr id="4367" name="Google Shape;4367;p59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68" name="Google Shape;4368;p59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69" name="Google Shape;4369;p59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0" name="Google Shape;4370;p59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1" name="Google Shape;4371;p59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2" name="Google Shape;4372;p59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3" name="Google Shape;4373;p59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4" name="Google Shape;4374;p59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5" name="Google Shape;4375;p59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6" name="Google Shape;4376;p59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7" name="Google Shape;4377;p59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8" name="Google Shape;4378;p59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79" name="Google Shape;4379;p59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0" name="Google Shape;4380;p59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1" name="Google Shape;4381;p59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2" name="Google Shape;4382;p59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3" name="Google Shape;4383;p59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4" name="Google Shape;4384;p59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5" name="Google Shape;4385;p59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6" name="Google Shape;4386;p59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7" name="Google Shape;4387;p59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8" name="Google Shape;4388;p59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89" name="Google Shape;4389;p59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0" name="Google Shape;4390;p59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1" name="Google Shape;4391;p59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2" name="Google Shape;4392;p59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3" name="Google Shape;4393;p59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4" name="Google Shape;4394;p59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5" name="Google Shape;4395;p59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6" name="Google Shape;4396;p59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7" name="Google Shape;4397;p59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398" name="Google Shape;4398;p59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</p:grpSp>
      <p:grpSp>
        <p:nvGrpSpPr>
          <p:cNvPr id="4399" name="Google Shape;4399;p59"/>
          <p:cNvGrpSpPr/>
          <p:nvPr/>
        </p:nvGrpSpPr>
        <p:grpSpPr>
          <a:xfrm rot="-5400000">
            <a:off x="-37142" y="1504819"/>
            <a:ext cx="2227588" cy="726522"/>
            <a:chOff x="3799000" y="1820400"/>
            <a:chExt cx="1039375" cy="338989"/>
          </a:xfrm>
        </p:grpSpPr>
        <p:sp>
          <p:nvSpPr>
            <p:cNvPr id="4400" name="Google Shape;4400;p59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1" name="Google Shape;4401;p59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2" name="Google Shape;4402;p59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3" name="Google Shape;4403;p59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4" name="Google Shape;4404;p59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5" name="Google Shape;4405;p59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6" name="Google Shape;4406;p59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7" name="Google Shape;4407;p59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8" name="Google Shape;4408;p59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09" name="Google Shape;4409;p59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0" name="Google Shape;4410;p59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1" name="Google Shape;4411;p59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2" name="Google Shape;4412;p59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3" name="Google Shape;4413;p59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4" name="Google Shape;4414;p59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5" name="Google Shape;4415;p59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6" name="Google Shape;4416;p59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7" name="Google Shape;4417;p59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8" name="Google Shape;4418;p59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19" name="Google Shape;4419;p59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0" name="Google Shape;4420;p59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1" name="Google Shape;4421;p59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2" name="Google Shape;4422;p59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3" name="Google Shape;4423;p59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4" name="Google Shape;4424;p59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5" name="Google Shape;4425;p59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6" name="Google Shape;4426;p59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7" name="Google Shape;4427;p59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8" name="Google Shape;4428;p59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29" name="Google Shape;4429;p59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30" name="Google Shape;4430;p59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31" name="Google Shape;4431;p59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32" name="Google Shape;4432;p59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33" name="Google Shape;4433;p59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34" name="Google Shape;4434;p59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  <p:sp>
          <p:nvSpPr>
            <p:cNvPr id="4435" name="Google Shape;4435;p59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endParaRPr>
            </a:p>
          </p:txBody>
        </p:sp>
      </p:grpSp>
      <p:pic>
        <p:nvPicPr>
          <p:cNvPr id="4436" name="Google Shape;44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425" y="2687250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7" name="Google Shape;4437;p59"/>
          <p:cNvSpPr txBox="1">
            <a:spLocks noGrp="1"/>
          </p:cNvSpPr>
          <p:nvPr>
            <p:ph type="title"/>
          </p:nvPr>
        </p:nvSpPr>
        <p:spPr>
          <a:xfrm>
            <a:off x="4428413" y="10527"/>
            <a:ext cx="44838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جمع‌بندی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439" name="Google Shape;4439;p59"/>
          <p:cNvSpPr txBox="1">
            <a:spLocks noGrp="1"/>
          </p:cNvSpPr>
          <p:nvPr>
            <p:ph type="subTitle" idx="1"/>
          </p:nvPr>
        </p:nvSpPr>
        <p:spPr>
          <a:xfrm>
            <a:off x="3283781" y="671474"/>
            <a:ext cx="5689903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در این پروژه یک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Web Application Firewall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کاربردی و آزمایشگاهی طراحی و پیاده‌سازی شد.</a:t>
            </a: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440" name="Google Shape;4440;p59"/>
          <p:cNvSpPr txBox="1">
            <a:spLocks noGrp="1"/>
          </p:cNvSpPr>
          <p:nvPr>
            <p:ph type="title" idx="3"/>
          </p:nvPr>
        </p:nvSpPr>
        <p:spPr>
          <a:xfrm>
            <a:off x="5705528" y="1210471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آنچه پیاده‌سازی شد</a:t>
            </a:r>
            <a:endParaRPr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sp>
        <p:nvSpPr>
          <p:cNvPr id="4441" name="Google Shape;4441;p59"/>
          <p:cNvSpPr txBox="1">
            <a:spLocks noGrp="1"/>
          </p:cNvSpPr>
          <p:nvPr>
            <p:ph type="subTitle" idx="4"/>
          </p:nvPr>
        </p:nvSpPr>
        <p:spPr>
          <a:xfrm>
            <a:off x="4526013" y="1606779"/>
            <a:ext cx="3920259" cy="1697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معماری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Reverse Proxy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بین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Client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Backend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Pipeline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ترکیبی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Sequential Rule-Based + ML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تشخیص ۸ سناریوی حمله در لایه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Rule-Based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استفاده از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ML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برای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XSS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دو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Container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مجزا با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Docker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Logging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Dashboard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برای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Monitoring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مجموعه تست مستقل شامل ۱۱۹ نمونه</a:t>
            </a:r>
            <a:endParaRPr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4442" name="Google Shape;444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838" y="3655601"/>
            <a:ext cx="736150" cy="970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3" name="Google Shape;444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880" y="-54153"/>
            <a:ext cx="736150" cy="931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4" name="Google Shape;4444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049" y="1263353"/>
            <a:ext cx="525135" cy="8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5" name="Google Shape;4445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2652" y="2094650"/>
            <a:ext cx="2005675" cy="2099965"/>
          </a:xfrm>
          <a:prstGeom prst="rect">
            <a:avLst/>
          </a:prstGeom>
          <a:noFill/>
          <a:ln>
            <a:noFill/>
          </a:ln>
        </p:spPr>
      </p:pic>
      <p:sp>
        <p:nvSpPr>
          <p:cNvPr id="4446" name="Google Shape;4446;p59"/>
          <p:cNvSpPr/>
          <p:nvPr/>
        </p:nvSpPr>
        <p:spPr>
          <a:xfrm>
            <a:off x="10487588" y="2407875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  <p:pic>
        <p:nvPicPr>
          <p:cNvPr id="4447" name="Google Shape;444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362" y="2245199"/>
            <a:ext cx="870965" cy="11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8" name="Google Shape;4448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5876" y="671474"/>
            <a:ext cx="870975" cy="137879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4439;p59">
            <a:extLst>
              <a:ext uri="{FF2B5EF4-FFF2-40B4-BE49-F238E27FC236}">
                <a16:creationId xmlns:a16="http://schemas.microsoft.com/office/drawing/2014/main" id="{7DE89480-20F3-4ED1-B44B-5D5D28E6970E}"/>
              </a:ext>
            </a:extLst>
          </p:cNvPr>
          <p:cNvSpPr txBox="1">
            <a:spLocks/>
          </p:cNvSpPr>
          <p:nvPr/>
        </p:nvSpPr>
        <p:spPr>
          <a:xfrm>
            <a:off x="2846429" y="2998916"/>
            <a:ext cx="5558187" cy="202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 spc="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r" rtl="1"/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نتیجه </a:t>
            </a:r>
            <a:r>
              <a:rPr lang="en-US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Evaluation</a:t>
            </a:r>
            <a:endParaRPr lang="fa-IR" sz="1600" b="1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/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Precision = 1.00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/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Recall = 0.91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/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F1-Score = 0.95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/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همچنین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Failure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های مشاهده‌شده، به‌ویژه در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SQL Injection،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بررسی و برای هرکدام مسیر توسعه مشخص شده است</a:t>
            </a:r>
          </a:p>
          <a:p>
            <a:pPr marL="0" indent="0" algn="r" rtl="1"/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  <a:p>
            <a:pPr marL="0" indent="0" algn="r" rtl="1"/>
            <a:r>
              <a:rPr lang="fa-IR" sz="1600" b="1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وضعیت نهایی</a:t>
            </a:r>
          </a:p>
          <a:p>
            <a:pPr marL="0" indent="0" algn="r" rtl="1"/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Functional Prototype </a:t>
            </a:r>
            <a:r>
              <a:rPr lang="fa-IR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آزمایشگاهی — نه محصول آماده </a:t>
            </a:r>
            <a:r>
              <a:rPr lang="en-US" sz="1200">
                <a:latin typeface="Cambria Math" panose="02040503050406030204" pitchFamily="18" charset="0"/>
                <a:ea typeface="Cambria Math" panose="02040503050406030204" pitchFamily="18" charset="0"/>
                <a:cs typeface="B Badr" panose="00000400000000000000" pitchFamily="2" charset="-78"/>
              </a:rPr>
              <a:t>Production</a:t>
            </a:r>
            <a:endParaRPr lang="fa-IR" sz="1200">
              <a:latin typeface="Cambria Math" panose="02040503050406030204" pitchFamily="18" charset="0"/>
              <a:ea typeface="Cambria Math" panose="02040503050406030204" pitchFamily="18" charset="0"/>
              <a:cs typeface="B Badr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2346</Words>
  <Application>Microsoft Office PowerPoint</Application>
  <PresentationFormat>On-screen Show (16:9)</PresentationFormat>
  <Paragraphs>362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Courier New</vt:lpstr>
      <vt:lpstr>Calibri</vt:lpstr>
      <vt:lpstr>Arial</vt:lpstr>
      <vt:lpstr>Baskerville Old Face</vt:lpstr>
      <vt:lpstr>PT Sans</vt:lpstr>
      <vt:lpstr>Open Sans Medium</vt:lpstr>
      <vt:lpstr>Cambria Math</vt:lpstr>
      <vt:lpstr>IranNastaliq</vt:lpstr>
      <vt:lpstr>Alumni Sans Pinstripe</vt:lpstr>
      <vt:lpstr>Advent Pro</vt:lpstr>
      <vt:lpstr>Cyber Security Kill Chain by Slidesgo</vt:lpstr>
      <vt:lpstr>PowerPoint Presentation</vt:lpstr>
      <vt:lpstr>WAF چیست؟</vt:lpstr>
      <vt:lpstr>Payload چیست؟</vt:lpstr>
      <vt:lpstr>هدف و محدوده پروژه هدف پروژه، طراحی و پیاده‌سازی یک WAF  کاربردی و آزمایشگاهی است که بتواند درخواست‌های HTTP  را قبل از رسیدن به Backend  دریافت، تحلیل و درباره آن‌ها تصمیم‌گیری کند.</vt:lpstr>
      <vt:lpstr>معماری کلی سیستم</vt:lpstr>
      <vt:lpstr>ساختار پروژه</vt:lpstr>
      <vt:lpstr>بسته بندی با Docker</vt:lpstr>
      <vt:lpstr>چرخه کامل Request</vt:lpstr>
      <vt:lpstr>Payload  از کجا ساخته می‌شود؟</vt:lpstr>
      <vt:lpstr>هشت سناریوی Rule-Based</vt:lpstr>
      <vt:lpstr>چگونه SQLInjectionDetector امتیاز می‌دهد؟</vt:lpstr>
      <vt:lpstr>چرا ML  در کنار Rule-Based؟</vt:lpstr>
      <vt:lpstr>3</vt:lpstr>
      <vt:lpstr>Pipeline آموزش و Inference</vt:lpstr>
      <vt:lpstr>آستانه تصمیم ML</vt:lpstr>
      <vt:lpstr>Dataset  آموزشی</vt:lpstr>
      <vt:lpstr>PowerPoint Presentation</vt:lpstr>
      <vt:lpstr>PowerPoint Presentation</vt:lpstr>
      <vt:lpstr>PowerPoint Presentation</vt:lpstr>
      <vt:lpstr>Dashboard چگونه داده دریافت می‌کند؟</vt:lpstr>
      <vt:lpstr>روش ارزیابی: مجموعه تست مستقل</vt:lpstr>
      <vt:lpstr>PowerPoint Presentation</vt:lpstr>
      <vt:lpstr>PowerPoint Presentation</vt:lpstr>
      <vt:lpstr>PowerPoint Presentation</vt:lpstr>
      <vt:lpstr>جمع‌بندی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mohad</cp:lastModifiedBy>
  <cp:revision>45</cp:revision>
  <dcterms:modified xsi:type="dcterms:W3CDTF">2026-09-19T07:24:44Z</dcterms:modified>
</cp:coreProperties>
</file>